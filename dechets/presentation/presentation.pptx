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09480" y="2071800"/>
            <a:ext cx="5059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7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DATA SCIENCE &amp; MACHINE LEARNING · PROJET FIL ROUGE</a:t>
            </a:r>
            <a:endParaRPr lang="fr-FR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09480" y="2486160"/>
            <a:ext cx="7878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3309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Les déchets des départements français</a:t>
            </a:r>
            <a:endParaRPr lang="fr-FR" sz="330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09480" y="3366720"/>
            <a:ext cx="102740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Prédire la production par habitant (supervisé), puis identifier des profils de départements (non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09480" y="3738240"/>
            <a:ext cx="1146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supervisé)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09480" y="4243680"/>
            <a:ext cx="5812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7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Rudy · ANTHONY Josselin · BENASSIE Noé · TAVERNIER Florian</a:t>
            </a:r>
            <a:endParaRPr lang="fr-FR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09480" y="4500720"/>
            <a:ext cx="6537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7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iRUP Alternance · Données publiques ADEME et INSEE · github.com/Rxdy/ML-DMA</a:t>
            </a:r>
            <a:endParaRPr lang="fr-FR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18840" y="2828880"/>
            <a:ext cx="1772280" cy="381240"/>
          </a:xfrm>
          <a:custGeom>
            <a:avLst/>
            <a:gdLst/>
            <a:ahLst/>
            <a:rect l="0" t="0" r="r" b="b"/>
            <a:pathLst>
              <a:path w="4923" h="1059">
                <a:moveTo>
                  <a:pt x="0" y="0"/>
                </a:moveTo>
                <a:lnTo>
                  <a:pt x="4923" y="0"/>
                </a:lnTo>
                <a:lnTo>
                  <a:pt x="49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390760" y="2828880"/>
            <a:ext cx="5239080" cy="381240"/>
          </a:xfrm>
          <a:custGeom>
            <a:avLst/>
            <a:gdLst/>
            <a:ahLst/>
            <a:rect l="0" t="0" r="r" b="b"/>
            <a:pathLst>
              <a:path w="14553" h="1059">
                <a:moveTo>
                  <a:pt x="0" y="0"/>
                </a:moveTo>
                <a:lnTo>
                  <a:pt x="14553" y="0"/>
                </a:lnTo>
                <a:lnTo>
                  <a:pt x="145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7629480" y="282888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618840" y="2828880"/>
            <a:ext cx="1772280" cy="381240"/>
          </a:xfrm>
          <a:custGeom>
            <a:avLst/>
            <a:gdLst/>
            <a:ahLst/>
            <a:rect l="0" t="0" r="r" b="b"/>
            <a:pathLst>
              <a:path w="4923" h="1059">
                <a:moveTo>
                  <a:pt x="0" y="0"/>
                </a:moveTo>
                <a:lnTo>
                  <a:pt x="4923" y="0"/>
                </a:lnTo>
                <a:lnTo>
                  <a:pt x="49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390760" y="2828880"/>
            <a:ext cx="5239080" cy="381240"/>
          </a:xfrm>
          <a:custGeom>
            <a:avLst/>
            <a:gdLst/>
            <a:ahLst/>
            <a:rect l="0" t="0" r="r" b="b"/>
            <a:pathLst>
              <a:path w="14553" h="1059">
                <a:moveTo>
                  <a:pt x="0" y="0"/>
                </a:moveTo>
                <a:lnTo>
                  <a:pt x="14553" y="0"/>
                </a:lnTo>
                <a:lnTo>
                  <a:pt x="145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7629480" y="282888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18840" y="3209760"/>
            <a:ext cx="1772280" cy="371880"/>
          </a:xfrm>
          <a:custGeom>
            <a:avLst/>
            <a:gdLst/>
            <a:ahLst/>
            <a:rect l="0" t="0" r="r" b="b"/>
            <a:pathLst>
              <a:path w="4923" h="1033">
                <a:moveTo>
                  <a:pt x="0" y="0"/>
                </a:moveTo>
                <a:lnTo>
                  <a:pt x="4923" y="0"/>
                </a:lnTo>
                <a:lnTo>
                  <a:pt x="49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390760" y="3209760"/>
            <a:ext cx="5239080" cy="371880"/>
          </a:xfrm>
          <a:custGeom>
            <a:avLst/>
            <a:gdLst/>
            <a:ahLst/>
            <a:rect l="0" t="0" r="r" b="b"/>
            <a:pathLst>
              <a:path w="14553" h="1033">
                <a:moveTo>
                  <a:pt x="0" y="0"/>
                </a:moveTo>
                <a:lnTo>
                  <a:pt x="14553" y="0"/>
                </a:lnTo>
                <a:lnTo>
                  <a:pt x="145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7629480" y="320976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618840" y="3581280"/>
            <a:ext cx="1772280" cy="381240"/>
          </a:xfrm>
          <a:custGeom>
            <a:avLst/>
            <a:gdLst/>
            <a:ahLst/>
            <a:rect l="0" t="0" r="r" b="b"/>
            <a:pathLst>
              <a:path w="4923" h="1059">
                <a:moveTo>
                  <a:pt x="0" y="0"/>
                </a:moveTo>
                <a:lnTo>
                  <a:pt x="4923" y="0"/>
                </a:lnTo>
                <a:lnTo>
                  <a:pt x="49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390760" y="3581280"/>
            <a:ext cx="5239080" cy="381240"/>
          </a:xfrm>
          <a:custGeom>
            <a:avLst/>
            <a:gdLst/>
            <a:ahLst/>
            <a:rect l="0" t="0" r="r" b="b"/>
            <a:pathLst>
              <a:path w="14553" h="1059">
                <a:moveTo>
                  <a:pt x="0" y="0"/>
                </a:moveTo>
                <a:lnTo>
                  <a:pt x="14553" y="0"/>
                </a:lnTo>
                <a:lnTo>
                  <a:pt x="145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629480" y="358128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618840" y="3962160"/>
            <a:ext cx="1772280" cy="371880"/>
          </a:xfrm>
          <a:custGeom>
            <a:avLst/>
            <a:gdLst/>
            <a:ahLst/>
            <a:rect l="0" t="0" r="r" b="b"/>
            <a:pathLst>
              <a:path w="4923" h="1033">
                <a:moveTo>
                  <a:pt x="0" y="0"/>
                </a:moveTo>
                <a:lnTo>
                  <a:pt x="4923" y="0"/>
                </a:lnTo>
                <a:lnTo>
                  <a:pt x="49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390760" y="3962160"/>
            <a:ext cx="5239080" cy="371880"/>
          </a:xfrm>
          <a:custGeom>
            <a:avLst/>
            <a:gdLst/>
            <a:ahLst/>
            <a:rect l="0" t="0" r="r" b="b"/>
            <a:pathLst>
              <a:path w="14553" h="1033">
                <a:moveTo>
                  <a:pt x="0" y="0"/>
                </a:moveTo>
                <a:lnTo>
                  <a:pt x="14553" y="0"/>
                </a:lnTo>
                <a:lnTo>
                  <a:pt x="145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7629480" y="396216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618840" y="4333680"/>
            <a:ext cx="1772280" cy="381240"/>
          </a:xfrm>
          <a:custGeom>
            <a:avLst/>
            <a:gdLst/>
            <a:ahLst/>
            <a:rect l="0" t="0" r="r" b="b"/>
            <a:pathLst>
              <a:path w="4923" h="1059">
                <a:moveTo>
                  <a:pt x="0" y="0"/>
                </a:moveTo>
                <a:lnTo>
                  <a:pt x="4923" y="0"/>
                </a:lnTo>
                <a:lnTo>
                  <a:pt x="49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390760" y="4333680"/>
            <a:ext cx="5239080" cy="381240"/>
          </a:xfrm>
          <a:custGeom>
            <a:avLst/>
            <a:gdLst/>
            <a:ahLst/>
            <a:rect l="0" t="0" r="r" b="b"/>
            <a:pathLst>
              <a:path w="14553" h="1059">
                <a:moveTo>
                  <a:pt x="0" y="0"/>
                </a:moveTo>
                <a:lnTo>
                  <a:pt x="14553" y="0"/>
                </a:lnTo>
                <a:lnTo>
                  <a:pt x="145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629480" y="433368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609480" y="2828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09480" y="2828880"/>
            <a:ext cx="1781640" cy="9720"/>
          </a:xfrm>
          <a:custGeom>
            <a:avLst/>
            <a:gdLst/>
            <a:ahLst/>
            <a:rect l="0" t="0" r="r" b="b"/>
            <a:pathLst>
              <a:path w="4949" h="27">
                <a:moveTo>
                  <a:pt x="0" y="0"/>
                </a:moveTo>
                <a:lnTo>
                  <a:pt x="4949" y="0"/>
                </a:lnTo>
                <a:lnTo>
                  <a:pt x="4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381040" y="2828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390760" y="2828880"/>
            <a:ext cx="5239080" cy="9720"/>
          </a:xfrm>
          <a:custGeom>
            <a:avLst/>
            <a:gdLst/>
            <a:ahLst/>
            <a:rect l="0" t="0" r="r" b="b"/>
            <a:pathLst>
              <a:path w="14553" h="27">
                <a:moveTo>
                  <a:pt x="0" y="0"/>
                </a:moveTo>
                <a:lnTo>
                  <a:pt x="14553" y="0"/>
                </a:lnTo>
                <a:lnTo>
                  <a:pt x="14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7619760" y="2828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7629480" y="2828880"/>
            <a:ext cx="762120" cy="9720"/>
          </a:xfrm>
          <a:custGeom>
            <a:avLst/>
            <a:gdLst/>
            <a:ahLst/>
            <a:rect l="0" t="0" r="r" b="b"/>
            <a:pathLst>
              <a:path w="2117" h="27">
                <a:moveTo>
                  <a:pt x="0" y="0"/>
                </a:moveTo>
                <a:lnTo>
                  <a:pt x="2117" y="0"/>
                </a:lnTo>
                <a:lnTo>
                  <a:pt x="21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8381880" y="2828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09480" y="3200040"/>
            <a:ext cx="1781640" cy="10080"/>
          </a:xfrm>
          <a:custGeom>
            <a:avLst/>
            <a:gdLst/>
            <a:ahLst/>
            <a:rect l="0" t="0" r="r" b="b"/>
            <a:pathLst>
              <a:path w="4949" h="28">
                <a:moveTo>
                  <a:pt x="0" y="0"/>
                </a:moveTo>
                <a:lnTo>
                  <a:pt x="4949" y="0"/>
                </a:lnTo>
                <a:lnTo>
                  <a:pt x="49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390760" y="3200040"/>
            <a:ext cx="5239080" cy="10080"/>
          </a:xfrm>
          <a:custGeom>
            <a:avLst/>
            <a:gdLst/>
            <a:ahLst/>
            <a:rect l="0" t="0" r="r" b="b"/>
            <a:pathLst>
              <a:path w="14553" h="28">
                <a:moveTo>
                  <a:pt x="0" y="0"/>
                </a:moveTo>
                <a:lnTo>
                  <a:pt x="14553" y="0"/>
                </a:lnTo>
                <a:lnTo>
                  <a:pt x="14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629480" y="3200040"/>
            <a:ext cx="762120" cy="10080"/>
          </a:xfrm>
          <a:custGeom>
            <a:avLst/>
            <a:gdLst/>
            <a:ahLst/>
            <a:rect l="0" t="0" r="r" b="b"/>
            <a:pathLst>
              <a:path w="2117" h="28">
                <a:moveTo>
                  <a:pt x="0" y="0"/>
                </a:moveTo>
                <a:lnTo>
                  <a:pt x="2117" y="0"/>
                </a:lnTo>
                <a:lnTo>
                  <a:pt x="21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609480" y="3209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381040" y="3209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7619760" y="3209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8381880" y="3209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09480" y="3590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09480" y="3581280"/>
            <a:ext cx="1781640" cy="9720"/>
          </a:xfrm>
          <a:custGeom>
            <a:avLst/>
            <a:gdLst/>
            <a:ahLst/>
            <a:rect l="0" t="0" r="r" b="b"/>
            <a:pathLst>
              <a:path w="4949" h="27">
                <a:moveTo>
                  <a:pt x="0" y="0"/>
                </a:moveTo>
                <a:lnTo>
                  <a:pt x="4949" y="0"/>
                </a:lnTo>
                <a:lnTo>
                  <a:pt x="4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381040" y="3590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390760" y="3581280"/>
            <a:ext cx="5239080" cy="9720"/>
          </a:xfrm>
          <a:custGeom>
            <a:avLst/>
            <a:gdLst/>
            <a:ahLst/>
            <a:rect l="0" t="0" r="r" b="b"/>
            <a:pathLst>
              <a:path w="14553" h="27">
                <a:moveTo>
                  <a:pt x="0" y="0"/>
                </a:moveTo>
                <a:lnTo>
                  <a:pt x="14553" y="0"/>
                </a:lnTo>
                <a:lnTo>
                  <a:pt x="14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7619760" y="3590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7629480" y="3581280"/>
            <a:ext cx="762120" cy="9720"/>
          </a:xfrm>
          <a:custGeom>
            <a:avLst/>
            <a:gdLst/>
            <a:ahLst/>
            <a:rect l="0" t="0" r="r" b="b"/>
            <a:pathLst>
              <a:path w="2117" h="27">
                <a:moveTo>
                  <a:pt x="0" y="0"/>
                </a:moveTo>
                <a:lnTo>
                  <a:pt x="2117" y="0"/>
                </a:lnTo>
                <a:lnTo>
                  <a:pt x="21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8381880" y="3590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09480" y="3962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09480" y="3952800"/>
            <a:ext cx="1781640" cy="9720"/>
          </a:xfrm>
          <a:custGeom>
            <a:avLst/>
            <a:gdLst/>
            <a:ahLst/>
            <a:rect l="0" t="0" r="r" b="b"/>
            <a:pathLst>
              <a:path w="4949" h="27">
                <a:moveTo>
                  <a:pt x="0" y="0"/>
                </a:moveTo>
                <a:lnTo>
                  <a:pt x="4949" y="0"/>
                </a:lnTo>
                <a:lnTo>
                  <a:pt x="4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2381040" y="3962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390760" y="3952800"/>
            <a:ext cx="5239080" cy="9720"/>
          </a:xfrm>
          <a:custGeom>
            <a:avLst/>
            <a:gdLst/>
            <a:ahLst/>
            <a:rect l="0" t="0" r="r" b="b"/>
            <a:pathLst>
              <a:path w="14553" h="27">
                <a:moveTo>
                  <a:pt x="0" y="0"/>
                </a:moveTo>
                <a:lnTo>
                  <a:pt x="14553" y="0"/>
                </a:lnTo>
                <a:lnTo>
                  <a:pt x="14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619760" y="3962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7629480" y="3952800"/>
            <a:ext cx="762120" cy="9720"/>
          </a:xfrm>
          <a:custGeom>
            <a:avLst/>
            <a:gdLst/>
            <a:ahLst/>
            <a:rect l="0" t="0" r="r" b="b"/>
            <a:pathLst>
              <a:path w="2117" h="27">
                <a:moveTo>
                  <a:pt x="0" y="0"/>
                </a:moveTo>
                <a:lnTo>
                  <a:pt x="2117" y="0"/>
                </a:lnTo>
                <a:lnTo>
                  <a:pt x="21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8381880" y="3962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09480" y="4343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09480" y="4333680"/>
            <a:ext cx="1781640" cy="9720"/>
          </a:xfrm>
          <a:custGeom>
            <a:avLst/>
            <a:gdLst/>
            <a:ahLst/>
            <a:rect l="0" t="0" r="r" b="b"/>
            <a:pathLst>
              <a:path w="4949" h="27">
                <a:moveTo>
                  <a:pt x="0" y="0"/>
                </a:moveTo>
                <a:lnTo>
                  <a:pt x="4949" y="0"/>
                </a:lnTo>
                <a:lnTo>
                  <a:pt x="4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381040" y="4343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390760" y="4333680"/>
            <a:ext cx="5239080" cy="9720"/>
          </a:xfrm>
          <a:custGeom>
            <a:avLst/>
            <a:gdLst/>
            <a:ahLst/>
            <a:rect l="0" t="0" r="r" b="b"/>
            <a:pathLst>
              <a:path w="14553" h="27">
                <a:moveTo>
                  <a:pt x="0" y="0"/>
                </a:moveTo>
                <a:lnTo>
                  <a:pt x="14553" y="0"/>
                </a:lnTo>
                <a:lnTo>
                  <a:pt x="14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619760" y="4343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629480" y="4333680"/>
            <a:ext cx="762120" cy="9720"/>
          </a:xfrm>
          <a:custGeom>
            <a:avLst/>
            <a:gdLst/>
            <a:ahLst/>
            <a:rect l="0" t="0" r="r" b="b"/>
            <a:pathLst>
              <a:path w="2117" h="27">
                <a:moveTo>
                  <a:pt x="0" y="0"/>
                </a:moveTo>
                <a:lnTo>
                  <a:pt x="2117" y="0"/>
                </a:lnTo>
                <a:lnTo>
                  <a:pt x="21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381880" y="4343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09480" y="4705200"/>
            <a:ext cx="1781640" cy="9720"/>
          </a:xfrm>
          <a:custGeom>
            <a:avLst/>
            <a:gdLst/>
            <a:ahLst/>
            <a:rect l="0" t="0" r="r" b="b"/>
            <a:pathLst>
              <a:path w="4949" h="27">
                <a:moveTo>
                  <a:pt x="0" y="0"/>
                </a:moveTo>
                <a:lnTo>
                  <a:pt x="4949" y="0"/>
                </a:lnTo>
                <a:lnTo>
                  <a:pt x="49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390760" y="4705200"/>
            <a:ext cx="5239080" cy="9720"/>
          </a:xfrm>
          <a:custGeom>
            <a:avLst/>
            <a:gdLst/>
            <a:ahLst/>
            <a:rect l="0" t="0" r="r" b="b"/>
            <a:pathLst>
              <a:path w="14553" h="27">
                <a:moveTo>
                  <a:pt x="0" y="0"/>
                </a:moveTo>
                <a:lnTo>
                  <a:pt x="14553" y="0"/>
                </a:lnTo>
                <a:lnTo>
                  <a:pt x="14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629480" y="4705200"/>
            <a:ext cx="762120" cy="9720"/>
          </a:xfrm>
          <a:custGeom>
            <a:avLst/>
            <a:gdLst/>
            <a:ahLst/>
            <a:rect l="0" t="0" r="r" b="b"/>
            <a:pathLst>
              <a:path w="2117" h="27">
                <a:moveTo>
                  <a:pt x="0" y="0"/>
                </a:moveTo>
                <a:lnTo>
                  <a:pt x="2117" y="0"/>
                </a:lnTo>
                <a:lnTo>
                  <a:pt x="21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09480" y="2083320"/>
            <a:ext cx="36583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Déroulé : 30 minutes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43040" y="2924280"/>
            <a:ext cx="466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516040" y="2924280"/>
            <a:ext cx="680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Contenu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754040" y="2924280"/>
            <a:ext cx="475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Durée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43040" y="3295800"/>
            <a:ext cx="811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1. Explorer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516040" y="3295800"/>
            <a:ext cx="3397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données, le thème, ce qu'on peut en faire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754040" y="3295800"/>
            <a:ext cx="410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 min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43040" y="3676680"/>
            <a:ext cx="1510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2. Prédire et évaluer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516040" y="3676680"/>
            <a:ext cx="4986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Rappel : X et Y, modèles, performance, géolocalisation des erreurs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754040" y="3676680"/>
            <a:ext cx="410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 min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3040" y="4048200"/>
            <a:ext cx="1007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3. Segmenter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516040" y="4048200"/>
            <a:ext cx="4203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K-means, choix des variables, interprétation des clusters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754040" y="4048200"/>
            <a:ext cx="504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16 min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43040" y="4429080"/>
            <a:ext cx="11001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4. Conclusions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516040" y="4429080"/>
            <a:ext cx="3209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Prise de recul, limites, pistes d'amélioration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754040" y="4429080"/>
            <a:ext cx="410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 min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09480" y="2437920"/>
            <a:ext cx="17902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Partie 1</a:t>
            </a:r>
            <a:endParaRPr lang="fr-FR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09480" y="3439800"/>
            <a:ext cx="47001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1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Explorer : les données et leur thème</a:t>
            </a:r>
            <a:endParaRPr lang="fr-FR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09480" y="4043160"/>
            <a:ext cx="1077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 minutes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09480" y="1540080"/>
            <a:ext cx="9682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 thème : qu'est-ce qu'on peut faire de ces données ?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09480" y="2328480"/>
            <a:ext cx="10328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Chaque département produit des déchets ménagers et assimilés (DMA) : ordures ménagères,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09480" y="2700000"/>
            <a:ext cx="10914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recyclables, déchets verts, encombrants, déchets dangereux. L'ADEME les recense (base SINOE),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09480" y="3552480"/>
            <a:ext cx="3534120" cy="48240"/>
          </a:xfrm>
          <a:custGeom>
            <a:avLst/>
            <a:gdLst/>
            <a:ahLst/>
            <a:rect l="0" t="0" r="r" b="b"/>
            <a:pathLst>
              <a:path w="9817" h="134">
                <a:moveTo>
                  <a:pt x="0" y="0"/>
                </a:moveTo>
                <a:lnTo>
                  <a:pt x="9817" y="0"/>
                </a:lnTo>
                <a:lnTo>
                  <a:pt x="9817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09480" y="524808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133520" y="3552480"/>
            <a:ext cx="10080" cy="1705320"/>
          </a:xfrm>
          <a:custGeom>
            <a:avLst/>
            <a:gdLst/>
            <a:ahLst/>
            <a:rect l="0" t="0" r="r" b="b"/>
            <a:pathLst>
              <a:path w="28" h="4737">
                <a:moveTo>
                  <a:pt x="0" y="133"/>
                </a:moveTo>
                <a:lnTo>
                  <a:pt x="0" y="4737"/>
                </a:lnTo>
                <a:lnTo>
                  <a:pt x="28" y="4737"/>
                </a:lnTo>
                <a:lnTo>
                  <a:pt x="28" y="0"/>
                </a:lnTo>
                <a:lnTo>
                  <a:pt x="0" y="133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09480" y="3552480"/>
            <a:ext cx="9720" cy="1705320"/>
          </a:xfrm>
          <a:custGeom>
            <a:avLst/>
            <a:gdLst/>
            <a:ahLst/>
            <a:rect l="0" t="0" r="r" b="b"/>
            <a:pathLst>
              <a:path w="27" h="4737">
                <a:moveTo>
                  <a:pt x="0" y="0"/>
                </a:moveTo>
                <a:lnTo>
                  <a:pt x="0" y="4737"/>
                </a:lnTo>
                <a:lnTo>
                  <a:pt x="27" y="4737"/>
                </a:lnTo>
                <a:lnTo>
                  <a:pt x="2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09480" y="3071520"/>
            <a:ext cx="4522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l'INSEE fournit la population et le revenu.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71480" y="3730320"/>
            <a:ext cx="6678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Prédire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71480" y="4025880"/>
            <a:ext cx="2744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Quelle quantité par habitant à la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71480" y="4311360"/>
            <a:ext cx="30567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prochaine enquête ? Apprentissage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71480" y="4606560"/>
            <a:ext cx="3131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supervisé : une réponse connue sert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333680" y="3552480"/>
            <a:ext cx="3524760" cy="48240"/>
          </a:xfrm>
          <a:custGeom>
            <a:avLst/>
            <a:gdLst/>
            <a:ahLst/>
            <a:rect l="0" t="0" r="r" b="b"/>
            <a:pathLst>
              <a:path w="9791" h="134">
                <a:moveTo>
                  <a:pt x="0" y="0"/>
                </a:moveTo>
                <a:lnTo>
                  <a:pt x="9791" y="0"/>
                </a:lnTo>
                <a:lnTo>
                  <a:pt x="9791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333680" y="5248080"/>
            <a:ext cx="3524760" cy="9720"/>
          </a:xfrm>
          <a:custGeom>
            <a:avLst/>
            <a:gdLst/>
            <a:ahLst/>
            <a:rect l="0" t="0" r="r" b="b"/>
            <a:pathLst>
              <a:path w="9791" h="27">
                <a:moveTo>
                  <a:pt x="0" y="0"/>
                </a:moveTo>
                <a:lnTo>
                  <a:pt x="9791" y="0"/>
                </a:lnTo>
                <a:lnTo>
                  <a:pt x="97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848360" y="3552480"/>
            <a:ext cx="10080" cy="1705320"/>
          </a:xfrm>
          <a:custGeom>
            <a:avLst/>
            <a:gdLst/>
            <a:ahLst/>
            <a:rect l="0" t="0" r="r" b="b"/>
            <a:pathLst>
              <a:path w="28" h="4737">
                <a:moveTo>
                  <a:pt x="0" y="133"/>
                </a:moveTo>
                <a:lnTo>
                  <a:pt x="0" y="4737"/>
                </a:lnTo>
                <a:lnTo>
                  <a:pt x="28" y="4737"/>
                </a:lnTo>
                <a:lnTo>
                  <a:pt x="28" y="0"/>
                </a:lnTo>
                <a:lnTo>
                  <a:pt x="0" y="133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333680" y="3552480"/>
            <a:ext cx="9720" cy="1705320"/>
          </a:xfrm>
          <a:custGeom>
            <a:avLst/>
            <a:gdLst/>
            <a:ahLst/>
            <a:rect l="0" t="0" r="r" b="b"/>
            <a:pathLst>
              <a:path w="27" h="4737">
                <a:moveTo>
                  <a:pt x="0" y="0"/>
                </a:moveTo>
                <a:lnTo>
                  <a:pt x="0" y="4737"/>
                </a:lnTo>
                <a:lnTo>
                  <a:pt x="27" y="4737"/>
                </a:lnTo>
                <a:lnTo>
                  <a:pt x="2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71480" y="4892400"/>
            <a:ext cx="9306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d'exemple.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4492440" y="3730320"/>
            <a:ext cx="10011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Segmenter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492440" y="4025880"/>
            <a:ext cx="31633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départements se ressemblent-ils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492440" y="4311360"/>
            <a:ext cx="31683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par ce qu'ils jettent ? Non supervisé :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048520" y="3552480"/>
            <a:ext cx="3534120" cy="48240"/>
          </a:xfrm>
          <a:custGeom>
            <a:avLst/>
            <a:gdLst/>
            <a:ahLst/>
            <a:rect l="0" t="0" r="r" b="b"/>
            <a:pathLst>
              <a:path w="9817" h="134">
                <a:moveTo>
                  <a:pt x="0" y="0"/>
                </a:moveTo>
                <a:lnTo>
                  <a:pt x="9817" y="0"/>
                </a:lnTo>
                <a:lnTo>
                  <a:pt x="9817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048520" y="524808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1572560" y="3552480"/>
            <a:ext cx="10080" cy="1705320"/>
          </a:xfrm>
          <a:custGeom>
            <a:avLst/>
            <a:gdLst/>
            <a:ahLst/>
            <a:rect l="0" t="0" r="r" b="b"/>
            <a:pathLst>
              <a:path w="28" h="4737">
                <a:moveTo>
                  <a:pt x="0" y="133"/>
                </a:moveTo>
                <a:lnTo>
                  <a:pt x="0" y="4737"/>
                </a:lnTo>
                <a:lnTo>
                  <a:pt x="28" y="4737"/>
                </a:lnTo>
                <a:lnTo>
                  <a:pt x="28" y="0"/>
                </a:lnTo>
                <a:lnTo>
                  <a:pt x="0" y="133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8048520" y="3552480"/>
            <a:ext cx="9720" cy="1705320"/>
          </a:xfrm>
          <a:custGeom>
            <a:avLst/>
            <a:gdLst/>
            <a:ahLst/>
            <a:rect l="0" t="0" r="r" b="b"/>
            <a:pathLst>
              <a:path w="27" h="4737">
                <a:moveTo>
                  <a:pt x="0" y="0"/>
                </a:moveTo>
                <a:lnTo>
                  <a:pt x="0" y="4737"/>
                </a:lnTo>
                <a:lnTo>
                  <a:pt x="27" y="4737"/>
                </a:lnTo>
                <a:lnTo>
                  <a:pt x="2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492440" y="4606560"/>
            <a:ext cx="22500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aucune réponse attendue.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213760" y="3730320"/>
            <a:ext cx="710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Décider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213760" y="4025880"/>
            <a:ext cx="30394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Savoir où l'on se situe pour adapter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213760" y="4311360"/>
            <a:ext cx="2302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collecte, tri et compostage.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18840" y="2619360"/>
            <a:ext cx="2772360" cy="381240"/>
          </a:xfrm>
          <a:custGeom>
            <a:avLst/>
            <a:gdLst/>
            <a:ahLst/>
            <a:rect l="0" t="0" r="r" b="b"/>
            <a:pathLst>
              <a:path w="7701" h="1059">
                <a:moveTo>
                  <a:pt x="0" y="0"/>
                </a:moveTo>
                <a:lnTo>
                  <a:pt x="7701" y="0"/>
                </a:lnTo>
                <a:lnTo>
                  <a:pt x="770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3390840" y="2619360"/>
            <a:ext cx="1543320" cy="381240"/>
          </a:xfrm>
          <a:custGeom>
            <a:avLst/>
            <a:gdLst/>
            <a:ahLst/>
            <a:rect l="0" t="0" r="r" b="b"/>
            <a:pathLst>
              <a:path w="4287" h="1059">
                <a:moveTo>
                  <a:pt x="0" y="0"/>
                </a:moveTo>
                <a:lnTo>
                  <a:pt x="4287" y="0"/>
                </a:lnTo>
                <a:lnTo>
                  <a:pt x="428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933800" y="2619360"/>
            <a:ext cx="800280" cy="381240"/>
          </a:xfrm>
          <a:custGeom>
            <a:avLst/>
            <a:gdLst/>
            <a:ahLst/>
            <a:rect l="0" t="0" r="r" b="b"/>
            <a:pathLst>
              <a:path w="2223" h="1059">
                <a:moveTo>
                  <a:pt x="0" y="0"/>
                </a:moveTo>
                <a:lnTo>
                  <a:pt x="2223" y="0"/>
                </a:lnTo>
                <a:lnTo>
                  <a:pt x="22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733720" y="2619360"/>
            <a:ext cx="1095840" cy="381240"/>
          </a:xfrm>
          <a:custGeom>
            <a:avLst/>
            <a:gdLst/>
            <a:ahLst/>
            <a:rect l="0" t="0" r="r" b="b"/>
            <a:pathLst>
              <a:path w="3044" h="1059">
                <a:moveTo>
                  <a:pt x="0" y="0"/>
                </a:moveTo>
                <a:lnTo>
                  <a:pt x="3044" y="0"/>
                </a:lnTo>
                <a:lnTo>
                  <a:pt x="30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829200" y="2619360"/>
            <a:ext cx="2734200" cy="381240"/>
          </a:xfrm>
          <a:custGeom>
            <a:avLst/>
            <a:gdLst/>
            <a:ahLst/>
            <a:rect l="0" t="0" r="r" b="b"/>
            <a:pathLst>
              <a:path w="7595" h="1059">
                <a:moveTo>
                  <a:pt x="0" y="0"/>
                </a:moveTo>
                <a:lnTo>
                  <a:pt x="7595" y="0"/>
                </a:lnTo>
                <a:lnTo>
                  <a:pt x="75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18840" y="2619360"/>
            <a:ext cx="2772360" cy="381240"/>
          </a:xfrm>
          <a:custGeom>
            <a:avLst/>
            <a:gdLst/>
            <a:ahLst/>
            <a:rect l="0" t="0" r="r" b="b"/>
            <a:pathLst>
              <a:path w="7701" h="1059">
                <a:moveTo>
                  <a:pt x="0" y="0"/>
                </a:moveTo>
                <a:lnTo>
                  <a:pt x="7701" y="0"/>
                </a:lnTo>
                <a:lnTo>
                  <a:pt x="770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3390840" y="2619360"/>
            <a:ext cx="1543320" cy="381240"/>
          </a:xfrm>
          <a:custGeom>
            <a:avLst/>
            <a:gdLst/>
            <a:ahLst/>
            <a:rect l="0" t="0" r="r" b="b"/>
            <a:pathLst>
              <a:path w="4287" h="1059">
                <a:moveTo>
                  <a:pt x="0" y="0"/>
                </a:moveTo>
                <a:lnTo>
                  <a:pt x="4287" y="0"/>
                </a:lnTo>
                <a:lnTo>
                  <a:pt x="428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4933800" y="2619360"/>
            <a:ext cx="800280" cy="381240"/>
          </a:xfrm>
          <a:custGeom>
            <a:avLst/>
            <a:gdLst/>
            <a:ahLst/>
            <a:rect l="0" t="0" r="r" b="b"/>
            <a:pathLst>
              <a:path w="2223" h="1059">
                <a:moveTo>
                  <a:pt x="0" y="0"/>
                </a:moveTo>
                <a:lnTo>
                  <a:pt x="2223" y="0"/>
                </a:lnTo>
                <a:lnTo>
                  <a:pt x="22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33720" y="2619360"/>
            <a:ext cx="1095840" cy="381240"/>
          </a:xfrm>
          <a:custGeom>
            <a:avLst/>
            <a:gdLst/>
            <a:ahLst/>
            <a:rect l="0" t="0" r="r" b="b"/>
            <a:pathLst>
              <a:path w="3044" h="1059">
                <a:moveTo>
                  <a:pt x="0" y="0"/>
                </a:moveTo>
                <a:lnTo>
                  <a:pt x="3044" y="0"/>
                </a:lnTo>
                <a:lnTo>
                  <a:pt x="30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829200" y="2619360"/>
            <a:ext cx="2734200" cy="381240"/>
          </a:xfrm>
          <a:custGeom>
            <a:avLst/>
            <a:gdLst/>
            <a:ahLst/>
            <a:rect l="0" t="0" r="r" b="b"/>
            <a:pathLst>
              <a:path w="7595" h="1059">
                <a:moveTo>
                  <a:pt x="0" y="0"/>
                </a:moveTo>
                <a:lnTo>
                  <a:pt x="7595" y="0"/>
                </a:lnTo>
                <a:lnTo>
                  <a:pt x="75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18840" y="3000240"/>
            <a:ext cx="2772360" cy="381240"/>
          </a:xfrm>
          <a:custGeom>
            <a:avLst/>
            <a:gdLst/>
            <a:ahLst/>
            <a:rect l="0" t="0" r="r" b="b"/>
            <a:pathLst>
              <a:path w="7701" h="1059">
                <a:moveTo>
                  <a:pt x="0" y="0"/>
                </a:moveTo>
                <a:lnTo>
                  <a:pt x="7701" y="0"/>
                </a:lnTo>
                <a:lnTo>
                  <a:pt x="770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390840" y="3000240"/>
            <a:ext cx="1543320" cy="381240"/>
          </a:xfrm>
          <a:custGeom>
            <a:avLst/>
            <a:gdLst/>
            <a:ahLst/>
            <a:rect l="0" t="0" r="r" b="b"/>
            <a:pathLst>
              <a:path w="4287" h="1059">
                <a:moveTo>
                  <a:pt x="0" y="0"/>
                </a:moveTo>
                <a:lnTo>
                  <a:pt x="4287" y="0"/>
                </a:lnTo>
                <a:lnTo>
                  <a:pt x="428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933800" y="3000240"/>
            <a:ext cx="800280" cy="381240"/>
          </a:xfrm>
          <a:custGeom>
            <a:avLst/>
            <a:gdLst/>
            <a:ahLst/>
            <a:rect l="0" t="0" r="r" b="b"/>
            <a:pathLst>
              <a:path w="2223" h="1059">
                <a:moveTo>
                  <a:pt x="0" y="0"/>
                </a:moveTo>
                <a:lnTo>
                  <a:pt x="2223" y="0"/>
                </a:lnTo>
                <a:lnTo>
                  <a:pt x="22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733720" y="3000240"/>
            <a:ext cx="1095840" cy="381240"/>
          </a:xfrm>
          <a:custGeom>
            <a:avLst/>
            <a:gdLst/>
            <a:ahLst/>
            <a:rect l="0" t="0" r="r" b="b"/>
            <a:pathLst>
              <a:path w="3044" h="1059">
                <a:moveTo>
                  <a:pt x="0" y="0"/>
                </a:moveTo>
                <a:lnTo>
                  <a:pt x="3044" y="0"/>
                </a:lnTo>
                <a:lnTo>
                  <a:pt x="30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829200" y="3000240"/>
            <a:ext cx="2734200" cy="381240"/>
          </a:xfrm>
          <a:custGeom>
            <a:avLst/>
            <a:gdLst/>
            <a:ahLst/>
            <a:rect l="0" t="0" r="r" b="b"/>
            <a:pathLst>
              <a:path w="7595" h="1059">
                <a:moveTo>
                  <a:pt x="0" y="0"/>
                </a:moveTo>
                <a:lnTo>
                  <a:pt x="7595" y="0"/>
                </a:lnTo>
                <a:lnTo>
                  <a:pt x="75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18840" y="3381120"/>
            <a:ext cx="2772360" cy="371880"/>
          </a:xfrm>
          <a:custGeom>
            <a:avLst/>
            <a:gdLst/>
            <a:ahLst/>
            <a:rect l="0" t="0" r="r" b="b"/>
            <a:pathLst>
              <a:path w="7701" h="1033">
                <a:moveTo>
                  <a:pt x="0" y="0"/>
                </a:moveTo>
                <a:lnTo>
                  <a:pt x="7701" y="0"/>
                </a:lnTo>
                <a:lnTo>
                  <a:pt x="770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3390840" y="338112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933800" y="3381120"/>
            <a:ext cx="800280" cy="371880"/>
          </a:xfrm>
          <a:custGeom>
            <a:avLst/>
            <a:gdLst/>
            <a:ahLst/>
            <a:rect l="0" t="0" r="r" b="b"/>
            <a:pathLst>
              <a:path w="2223" h="1033">
                <a:moveTo>
                  <a:pt x="0" y="0"/>
                </a:moveTo>
                <a:lnTo>
                  <a:pt x="2223" y="0"/>
                </a:lnTo>
                <a:lnTo>
                  <a:pt x="22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733720" y="3381120"/>
            <a:ext cx="1095840" cy="371880"/>
          </a:xfrm>
          <a:custGeom>
            <a:avLst/>
            <a:gdLst/>
            <a:ahLst/>
            <a:rect l="0" t="0" r="r" b="b"/>
            <a:pathLst>
              <a:path w="3044" h="1033">
                <a:moveTo>
                  <a:pt x="0" y="0"/>
                </a:moveTo>
                <a:lnTo>
                  <a:pt x="3044" y="0"/>
                </a:lnTo>
                <a:lnTo>
                  <a:pt x="30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829200" y="3381120"/>
            <a:ext cx="2734200" cy="371880"/>
          </a:xfrm>
          <a:custGeom>
            <a:avLst/>
            <a:gdLst/>
            <a:ahLst/>
            <a:rect l="0" t="0" r="r" b="b"/>
            <a:pathLst>
              <a:path w="7595" h="1033">
                <a:moveTo>
                  <a:pt x="0" y="0"/>
                </a:moveTo>
                <a:lnTo>
                  <a:pt x="7595" y="0"/>
                </a:lnTo>
                <a:lnTo>
                  <a:pt x="75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18840" y="3752640"/>
            <a:ext cx="2772360" cy="381240"/>
          </a:xfrm>
          <a:custGeom>
            <a:avLst/>
            <a:gdLst/>
            <a:ahLst/>
            <a:rect l="0" t="0" r="r" b="b"/>
            <a:pathLst>
              <a:path w="7701" h="1059">
                <a:moveTo>
                  <a:pt x="0" y="0"/>
                </a:moveTo>
                <a:lnTo>
                  <a:pt x="7701" y="0"/>
                </a:lnTo>
                <a:lnTo>
                  <a:pt x="770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390840" y="3752640"/>
            <a:ext cx="1543320" cy="381240"/>
          </a:xfrm>
          <a:custGeom>
            <a:avLst/>
            <a:gdLst/>
            <a:ahLst/>
            <a:rect l="0" t="0" r="r" b="b"/>
            <a:pathLst>
              <a:path w="4287" h="1059">
                <a:moveTo>
                  <a:pt x="0" y="0"/>
                </a:moveTo>
                <a:lnTo>
                  <a:pt x="4287" y="0"/>
                </a:lnTo>
                <a:lnTo>
                  <a:pt x="428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933800" y="3752640"/>
            <a:ext cx="800280" cy="381240"/>
          </a:xfrm>
          <a:custGeom>
            <a:avLst/>
            <a:gdLst/>
            <a:ahLst/>
            <a:rect l="0" t="0" r="r" b="b"/>
            <a:pathLst>
              <a:path w="2223" h="1059">
                <a:moveTo>
                  <a:pt x="0" y="0"/>
                </a:moveTo>
                <a:lnTo>
                  <a:pt x="2223" y="0"/>
                </a:lnTo>
                <a:lnTo>
                  <a:pt x="22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33720" y="3752640"/>
            <a:ext cx="1095840" cy="381240"/>
          </a:xfrm>
          <a:custGeom>
            <a:avLst/>
            <a:gdLst/>
            <a:ahLst/>
            <a:rect l="0" t="0" r="r" b="b"/>
            <a:pathLst>
              <a:path w="3044" h="1059">
                <a:moveTo>
                  <a:pt x="0" y="0"/>
                </a:moveTo>
                <a:lnTo>
                  <a:pt x="3044" y="0"/>
                </a:lnTo>
                <a:lnTo>
                  <a:pt x="30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829200" y="3752640"/>
            <a:ext cx="2734200" cy="381240"/>
          </a:xfrm>
          <a:custGeom>
            <a:avLst/>
            <a:gdLst/>
            <a:ahLst/>
            <a:rect l="0" t="0" r="r" b="b"/>
            <a:pathLst>
              <a:path w="7595" h="1059">
                <a:moveTo>
                  <a:pt x="0" y="0"/>
                </a:moveTo>
                <a:lnTo>
                  <a:pt x="7595" y="0"/>
                </a:lnTo>
                <a:lnTo>
                  <a:pt x="75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18840" y="4133520"/>
            <a:ext cx="2772360" cy="371880"/>
          </a:xfrm>
          <a:custGeom>
            <a:avLst/>
            <a:gdLst/>
            <a:ahLst/>
            <a:rect l="0" t="0" r="r" b="b"/>
            <a:pathLst>
              <a:path w="7701" h="1033">
                <a:moveTo>
                  <a:pt x="0" y="0"/>
                </a:moveTo>
                <a:lnTo>
                  <a:pt x="7701" y="0"/>
                </a:lnTo>
                <a:lnTo>
                  <a:pt x="770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390840" y="4133520"/>
            <a:ext cx="1543320" cy="371880"/>
          </a:xfrm>
          <a:custGeom>
            <a:avLst/>
            <a:gdLst/>
            <a:ahLst/>
            <a:rect l="0" t="0" r="r" b="b"/>
            <a:pathLst>
              <a:path w="4287" h="1033">
                <a:moveTo>
                  <a:pt x="0" y="0"/>
                </a:moveTo>
                <a:lnTo>
                  <a:pt x="4287" y="0"/>
                </a:lnTo>
                <a:lnTo>
                  <a:pt x="42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933800" y="4133520"/>
            <a:ext cx="800280" cy="371880"/>
          </a:xfrm>
          <a:custGeom>
            <a:avLst/>
            <a:gdLst/>
            <a:ahLst/>
            <a:rect l="0" t="0" r="r" b="b"/>
            <a:pathLst>
              <a:path w="2223" h="1033">
                <a:moveTo>
                  <a:pt x="0" y="0"/>
                </a:moveTo>
                <a:lnTo>
                  <a:pt x="2223" y="0"/>
                </a:lnTo>
                <a:lnTo>
                  <a:pt x="22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733720" y="4133520"/>
            <a:ext cx="1095840" cy="371880"/>
          </a:xfrm>
          <a:custGeom>
            <a:avLst/>
            <a:gdLst/>
            <a:ahLst/>
            <a:rect l="0" t="0" r="r" b="b"/>
            <a:pathLst>
              <a:path w="3044" h="1033">
                <a:moveTo>
                  <a:pt x="0" y="0"/>
                </a:moveTo>
                <a:lnTo>
                  <a:pt x="3044" y="0"/>
                </a:lnTo>
                <a:lnTo>
                  <a:pt x="30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829200" y="4133520"/>
            <a:ext cx="2734200" cy="371880"/>
          </a:xfrm>
          <a:custGeom>
            <a:avLst/>
            <a:gdLst/>
            <a:ahLst/>
            <a:rect l="0" t="0" r="r" b="b"/>
            <a:pathLst>
              <a:path w="7595" h="1033">
                <a:moveTo>
                  <a:pt x="0" y="0"/>
                </a:moveTo>
                <a:lnTo>
                  <a:pt x="7595" y="0"/>
                </a:lnTo>
                <a:lnTo>
                  <a:pt x="75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09480" y="261936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09480" y="2619360"/>
            <a:ext cx="2791080" cy="9720"/>
          </a:xfrm>
          <a:custGeom>
            <a:avLst/>
            <a:gdLst/>
            <a:ahLst/>
            <a:rect l="0" t="0" r="r" b="b"/>
            <a:pathLst>
              <a:path w="7753" h="27">
                <a:moveTo>
                  <a:pt x="0" y="0"/>
                </a:moveTo>
                <a:lnTo>
                  <a:pt x="7753" y="0"/>
                </a:lnTo>
                <a:lnTo>
                  <a:pt x="7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390840" y="261936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400200" y="2619360"/>
            <a:ext cx="1533960" cy="9720"/>
          </a:xfrm>
          <a:custGeom>
            <a:avLst/>
            <a:gdLst/>
            <a:ahLst/>
            <a:rect l="0" t="0" r="r" b="b"/>
            <a:pathLst>
              <a:path w="4261" h="27">
                <a:moveTo>
                  <a:pt x="0" y="0"/>
                </a:moveTo>
                <a:lnTo>
                  <a:pt x="4261" y="0"/>
                </a:lnTo>
                <a:lnTo>
                  <a:pt x="4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924080" y="261936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933800" y="261936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724360" y="261936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733720" y="2619360"/>
            <a:ext cx="1105560" cy="9720"/>
          </a:xfrm>
          <a:custGeom>
            <a:avLst/>
            <a:gdLst/>
            <a:ahLst/>
            <a:rect l="0" t="0" r="r" b="b"/>
            <a:pathLst>
              <a:path w="3071" h="27">
                <a:moveTo>
                  <a:pt x="0" y="0"/>
                </a:moveTo>
                <a:lnTo>
                  <a:pt x="3071" y="0"/>
                </a:lnTo>
                <a:lnTo>
                  <a:pt x="3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829200" y="261936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838920" y="261936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9553320" y="261936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09480" y="3000240"/>
            <a:ext cx="2791080" cy="9720"/>
          </a:xfrm>
          <a:custGeom>
            <a:avLst/>
            <a:gdLst/>
            <a:ahLst/>
            <a:rect l="0" t="0" r="r" b="b"/>
            <a:pathLst>
              <a:path w="7753" h="27">
                <a:moveTo>
                  <a:pt x="0" y="0"/>
                </a:moveTo>
                <a:lnTo>
                  <a:pt x="7753" y="0"/>
                </a:lnTo>
                <a:lnTo>
                  <a:pt x="7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400200" y="3000240"/>
            <a:ext cx="1533960" cy="9720"/>
          </a:xfrm>
          <a:custGeom>
            <a:avLst/>
            <a:gdLst/>
            <a:ahLst/>
            <a:rect l="0" t="0" r="r" b="b"/>
            <a:pathLst>
              <a:path w="4261" h="27">
                <a:moveTo>
                  <a:pt x="0" y="0"/>
                </a:moveTo>
                <a:lnTo>
                  <a:pt x="4261" y="0"/>
                </a:lnTo>
                <a:lnTo>
                  <a:pt x="4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4933800" y="300024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733720" y="3000240"/>
            <a:ext cx="1105560" cy="9720"/>
          </a:xfrm>
          <a:custGeom>
            <a:avLst/>
            <a:gdLst/>
            <a:ahLst/>
            <a:rect l="0" t="0" r="r" b="b"/>
            <a:pathLst>
              <a:path w="3071" h="27">
                <a:moveTo>
                  <a:pt x="0" y="0"/>
                </a:moveTo>
                <a:lnTo>
                  <a:pt x="3071" y="0"/>
                </a:lnTo>
                <a:lnTo>
                  <a:pt x="3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838920" y="300024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094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3908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9240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243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8292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95533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0948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09480" y="3371760"/>
            <a:ext cx="2791080" cy="9720"/>
          </a:xfrm>
          <a:custGeom>
            <a:avLst/>
            <a:gdLst/>
            <a:ahLst/>
            <a:rect l="0" t="0" r="r" b="b"/>
            <a:pathLst>
              <a:path w="7753" h="27">
                <a:moveTo>
                  <a:pt x="0" y="0"/>
                </a:moveTo>
                <a:lnTo>
                  <a:pt x="7753" y="0"/>
                </a:lnTo>
                <a:lnTo>
                  <a:pt x="7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39084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400200" y="3371760"/>
            <a:ext cx="1533960" cy="9720"/>
          </a:xfrm>
          <a:custGeom>
            <a:avLst/>
            <a:gdLst/>
            <a:ahLst/>
            <a:rect l="0" t="0" r="r" b="b"/>
            <a:pathLst>
              <a:path w="4261" h="27">
                <a:moveTo>
                  <a:pt x="0" y="0"/>
                </a:moveTo>
                <a:lnTo>
                  <a:pt x="4261" y="0"/>
                </a:lnTo>
                <a:lnTo>
                  <a:pt x="4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924080" y="33811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933800" y="337176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572436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733720" y="3371760"/>
            <a:ext cx="1105560" cy="9720"/>
          </a:xfrm>
          <a:custGeom>
            <a:avLst/>
            <a:gdLst/>
            <a:ahLst/>
            <a:rect l="0" t="0" r="r" b="b"/>
            <a:pathLst>
              <a:path w="3071" h="27">
                <a:moveTo>
                  <a:pt x="0" y="0"/>
                </a:moveTo>
                <a:lnTo>
                  <a:pt x="3071" y="0"/>
                </a:lnTo>
                <a:lnTo>
                  <a:pt x="3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829200" y="33811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838920" y="337176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9553320" y="33811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09480" y="37623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09480" y="3752640"/>
            <a:ext cx="2791080" cy="10080"/>
          </a:xfrm>
          <a:custGeom>
            <a:avLst/>
            <a:gdLst/>
            <a:ahLst/>
            <a:rect l="0" t="0" r="r" b="b"/>
            <a:pathLst>
              <a:path w="7753" h="28">
                <a:moveTo>
                  <a:pt x="0" y="0"/>
                </a:moveTo>
                <a:lnTo>
                  <a:pt x="7753" y="0"/>
                </a:lnTo>
                <a:lnTo>
                  <a:pt x="7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390840" y="37623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400200" y="3752640"/>
            <a:ext cx="1533960" cy="10080"/>
          </a:xfrm>
          <a:custGeom>
            <a:avLst/>
            <a:gdLst/>
            <a:ahLst/>
            <a:rect l="0" t="0" r="r" b="b"/>
            <a:pathLst>
              <a:path w="4261" h="28">
                <a:moveTo>
                  <a:pt x="0" y="0"/>
                </a:moveTo>
                <a:lnTo>
                  <a:pt x="4261" y="0"/>
                </a:lnTo>
                <a:lnTo>
                  <a:pt x="4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924080" y="376236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933800" y="375264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724360" y="37623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733720" y="3752640"/>
            <a:ext cx="1105560" cy="10080"/>
          </a:xfrm>
          <a:custGeom>
            <a:avLst/>
            <a:gdLst/>
            <a:ahLst/>
            <a:rect l="0" t="0" r="r" b="b"/>
            <a:pathLst>
              <a:path w="3071" h="28">
                <a:moveTo>
                  <a:pt x="0" y="0"/>
                </a:moveTo>
                <a:lnTo>
                  <a:pt x="3071" y="0"/>
                </a:lnTo>
                <a:lnTo>
                  <a:pt x="3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829200" y="376236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838920" y="375264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9553320" y="376236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09480" y="4133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09480" y="4124160"/>
            <a:ext cx="2791080" cy="9720"/>
          </a:xfrm>
          <a:custGeom>
            <a:avLst/>
            <a:gdLst/>
            <a:ahLst/>
            <a:rect l="0" t="0" r="r" b="b"/>
            <a:pathLst>
              <a:path w="7753" h="27">
                <a:moveTo>
                  <a:pt x="0" y="0"/>
                </a:moveTo>
                <a:lnTo>
                  <a:pt x="7753" y="0"/>
                </a:lnTo>
                <a:lnTo>
                  <a:pt x="7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3390840" y="4133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3400200" y="4124160"/>
            <a:ext cx="1533960" cy="9720"/>
          </a:xfrm>
          <a:custGeom>
            <a:avLst/>
            <a:gdLst/>
            <a:ahLst/>
            <a:rect l="0" t="0" r="r" b="b"/>
            <a:pathLst>
              <a:path w="4261" h="27">
                <a:moveTo>
                  <a:pt x="0" y="0"/>
                </a:moveTo>
                <a:lnTo>
                  <a:pt x="4261" y="0"/>
                </a:lnTo>
                <a:lnTo>
                  <a:pt x="4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4924080" y="41335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933800" y="412416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724360" y="4133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733720" y="4124160"/>
            <a:ext cx="1105560" cy="9720"/>
          </a:xfrm>
          <a:custGeom>
            <a:avLst/>
            <a:gdLst/>
            <a:ahLst/>
            <a:rect l="0" t="0" r="r" b="b"/>
            <a:pathLst>
              <a:path w="3071" h="27">
                <a:moveTo>
                  <a:pt x="0" y="0"/>
                </a:moveTo>
                <a:lnTo>
                  <a:pt x="3071" y="0"/>
                </a:lnTo>
                <a:lnTo>
                  <a:pt x="3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829200" y="41335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6838920" y="412416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9553320" y="41335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09480" y="4505040"/>
            <a:ext cx="2791080" cy="10080"/>
          </a:xfrm>
          <a:custGeom>
            <a:avLst/>
            <a:gdLst/>
            <a:ahLst/>
            <a:rect l="0" t="0" r="r" b="b"/>
            <a:pathLst>
              <a:path w="7753" h="28">
                <a:moveTo>
                  <a:pt x="0" y="0"/>
                </a:moveTo>
                <a:lnTo>
                  <a:pt x="7753" y="0"/>
                </a:lnTo>
                <a:lnTo>
                  <a:pt x="7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400200" y="4505040"/>
            <a:ext cx="1533960" cy="10080"/>
          </a:xfrm>
          <a:custGeom>
            <a:avLst/>
            <a:gdLst/>
            <a:ahLst/>
            <a:rect l="0" t="0" r="r" b="b"/>
            <a:pathLst>
              <a:path w="4261" h="28">
                <a:moveTo>
                  <a:pt x="0" y="0"/>
                </a:moveTo>
                <a:lnTo>
                  <a:pt x="4261" y="0"/>
                </a:lnTo>
                <a:lnTo>
                  <a:pt x="4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933800" y="450504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33720" y="4505040"/>
            <a:ext cx="1105560" cy="10080"/>
          </a:xfrm>
          <a:custGeom>
            <a:avLst/>
            <a:gdLst/>
            <a:ahLst/>
            <a:rect l="0" t="0" r="r" b="b"/>
            <a:pathLst>
              <a:path w="3071" h="28">
                <a:moveTo>
                  <a:pt x="0" y="0"/>
                </a:moveTo>
                <a:lnTo>
                  <a:pt x="3071" y="0"/>
                </a:lnTo>
                <a:lnTo>
                  <a:pt x="3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6838920" y="450504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09480" y="1873440"/>
            <a:ext cx="45882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Quatre sources publiques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743040" y="2714760"/>
            <a:ext cx="55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Fichier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523320" y="2714760"/>
            <a:ext cx="894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Producteur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061960" y="2714760"/>
            <a:ext cx="541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Lignes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861520" y="2714760"/>
            <a:ext cx="615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Période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961320" y="2714760"/>
            <a:ext cx="363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Rôle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43040" y="3095640"/>
            <a:ext cx="820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sinoe_dma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523320" y="3095640"/>
            <a:ext cx="1276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ADEME (SINOE)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061960" y="3095640"/>
            <a:ext cx="513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14 660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861520" y="3095640"/>
            <a:ext cx="83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2009–2021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961320" y="3095640"/>
            <a:ext cx="2479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Tonnage par déchet et traitement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43040" y="3467160"/>
            <a:ext cx="248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sinoe_chiffres_cles_hors_gravats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523320" y="3467160"/>
            <a:ext cx="1276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ADEME (SINOE)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061960" y="34671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800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861520" y="3467160"/>
            <a:ext cx="83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2009–2023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961320" y="3467160"/>
            <a:ext cx="16221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Base de la régression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743040" y="3848040"/>
            <a:ext cx="2516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sinoe_chiffres_cles_avec_gravats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3523320" y="3848040"/>
            <a:ext cx="1276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ADEME (SINOE)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061960" y="38480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701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5861520" y="3848040"/>
            <a:ext cx="83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2009–2021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961320" y="3848040"/>
            <a:ext cx="24145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Contrôle des populations, écarté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43040" y="4219560"/>
            <a:ext cx="2023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insee_revenu_median_dep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523320" y="4219560"/>
            <a:ext cx="1193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INSEE (Filosofi)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061960" y="42195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491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861520" y="4219560"/>
            <a:ext cx="83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2013–2021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961320" y="4219560"/>
            <a:ext cx="1715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Test du revenu médian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609480" y="4691160"/>
            <a:ext cx="8267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7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Licence Ouverte 2.0 (data.gouv.fr). Fichiers bruts inclus dans le dépôt : tout se rejoue sans téléchargement.</a:t>
            </a:r>
            <a:endParaRPr lang="fr-FR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885600" y="2714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09480" y="1816560"/>
            <a:ext cx="81835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Exploration : qualité des données et périmètre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88560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8"/>
                  <a:pt x="146" y="204"/>
                </a:cubicBezTo>
                <a:cubicBezTo>
                  <a:pt x="133" y="209"/>
                  <a:pt x="120" y="213"/>
                  <a:pt x="106" y="213"/>
                </a:cubicBezTo>
                <a:cubicBezTo>
                  <a:pt x="92" y="213"/>
                  <a:pt x="78" y="209"/>
                  <a:pt x="65" y="204"/>
                </a:cubicBezTo>
                <a:cubicBezTo>
                  <a:pt x="52" y="198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104840" y="2604960"/>
            <a:ext cx="99262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Aucune valeur manquante, aucun doublon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(lignes identiques et clés répétées vérifiées)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885600" y="3581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104840" y="3043080"/>
            <a:ext cx="8760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Enquête biennale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années impaires seulement, ce n'est pas un trou à combler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04840" y="3471480"/>
            <a:ext cx="98600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Gravats exclus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ils viennent des chantiers, pas des ménages. Écart-type du ratio : 100,6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885600" y="4390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2" y="172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104840" y="3843000"/>
            <a:ext cx="3480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kg/hab avec gravats,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80,3 sans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104840" y="4281120"/>
            <a:ext cx="9507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Cible = ratio kg/habitant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le tonnage est corrélé à 97 % avec la population, le prédire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104840" y="4652640"/>
            <a:ext cx="47786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reviendrait à réapprendre une multiplication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09480" y="2437920"/>
            <a:ext cx="17902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Partie 2</a:t>
            </a:r>
            <a:endParaRPr lang="fr-FR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09480" y="3439800"/>
            <a:ext cx="34272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1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Rappel : prédire et évaluer</a:t>
            </a:r>
            <a:endParaRPr lang="fr-FR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09480" y="4043160"/>
            <a:ext cx="6697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 minutes — déjà présentée, détail dans le rapport supervisé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18840" y="2800080"/>
            <a:ext cx="867240" cy="381600"/>
          </a:xfrm>
          <a:custGeom>
            <a:avLst/>
            <a:gdLst/>
            <a:ahLst/>
            <a:rect l="0" t="0" r="r" b="b"/>
            <a:pathLst>
              <a:path w="2409" h="1060">
                <a:moveTo>
                  <a:pt x="0" y="0"/>
                </a:moveTo>
                <a:lnTo>
                  <a:pt x="2409" y="0"/>
                </a:lnTo>
                <a:lnTo>
                  <a:pt x="240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485720" y="2800080"/>
            <a:ext cx="6286680" cy="381600"/>
          </a:xfrm>
          <a:custGeom>
            <a:avLst/>
            <a:gdLst/>
            <a:ahLst/>
            <a:rect l="0" t="0" r="r" b="b"/>
            <a:pathLst>
              <a:path w="17463" h="1060">
                <a:moveTo>
                  <a:pt x="0" y="0"/>
                </a:moveTo>
                <a:lnTo>
                  <a:pt x="17463" y="0"/>
                </a:lnTo>
                <a:lnTo>
                  <a:pt x="1746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18840" y="2800080"/>
            <a:ext cx="867240" cy="381600"/>
          </a:xfrm>
          <a:custGeom>
            <a:avLst/>
            <a:gdLst/>
            <a:ahLst/>
            <a:rect l="0" t="0" r="r" b="b"/>
            <a:pathLst>
              <a:path w="2409" h="1060">
                <a:moveTo>
                  <a:pt x="0" y="0"/>
                </a:moveTo>
                <a:lnTo>
                  <a:pt x="2409" y="0"/>
                </a:lnTo>
                <a:lnTo>
                  <a:pt x="240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485720" y="2800080"/>
            <a:ext cx="6286680" cy="381600"/>
          </a:xfrm>
          <a:custGeom>
            <a:avLst/>
            <a:gdLst/>
            <a:ahLst/>
            <a:rect l="0" t="0" r="r" b="b"/>
            <a:pathLst>
              <a:path w="17463" h="1060">
                <a:moveTo>
                  <a:pt x="0" y="0"/>
                </a:moveTo>
                <a:lnTo>
                  <a:pt x="17463" y="0"/>
                </a:lnTo>
                <a:lnTo>
                  <a:pt x="1746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18840" y="3181320"/>
            <a:ext cx="867240" cy="371520"/>
          </a:xfrm>
          <a:custGeom>
            <a:avLst/>
            <a:gdLst/>
            <a:ahLst/>
            <a:rect l="0" t="0" r="r" b="b"/>
            <a:pathLst>
              <a:path w="2409" h="1032">
                <a:moveTo>
                  <a:pt x="0" y="0"/>
                </a:moveTo>
                <a:lnTo>
                  <a:pt x="2409" y="0"/>
                </a:lnTo>
                <a:lnTo>
                  <a:pt x="240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485720" y="3181320"/>
            <a:ext cx="6286680" cy="371520"/>
          </a:xfrm>
          <a:custGeom>
            <a:avLst/>
            <a:gdLst/>
            <a:ahLst/>
            <a:rect l="0" t="0" r="r" b="b"/>
            <a:pathLst>
              <a:path w="17463" h="1032">
                <a:moveTo>
                  <a:pt x="0" y="0"/>
                </a:moveTo>
                <a:lnTo>
                  <a:pt x="17463" y="0"/>
                </a:lnTo>
                <a:lnTo>
                  <a:pt x="1746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618840" y="3552480"/>
            <a:ext cx="867240" cy="381600"/>
          </a:xfrm>
          <a:custGeom>
            <a:avLst/>
            <a:gdLst/>
            <a:ahLst/>
            <a:rect l="0" t="0" r="r" b="b"/>
            <a:pathLst>
              <a:path w="2409" h="1060">
                <a:moveTo>
                  <a:pt x="0" y="0"/>
                </a:moveTo>
                <a:lnTo>
                  <a:pt x="2409" y="0"/>
                </a:lnTo>
                <a:lnTo>
                  <a:pt x="240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485720" y="3552480"/>
            <a:ext cx="6286680" cy="381600"/>
          </a:xfrm>
          <a:custGeom>
            <a:avLst/>
            <a:gdLst/>
            <a:ahLst/>
            <a:rect l="0" t="0" r="r" b="b"/>
            <a:pathLst>
              <a:path w="17463" h="1060">
                <a:moveTo>
                  <a:pt x="0" y="0"/>
                </a:moveTo>
                <a:lnTo>
                  <a:pt x="17463" y="0"/>
                </a:lnTo>
                <a:lnTo>
                  <a:pt x="1746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609480" y="28000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609480" y="280008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485720" y="28000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495080" y="2800080"/>
            <a:ext cx="6287040" cy="10080"/>
          </a:xfrm>
          <a:custGeom>
            <a:avLst/>
            <a:gdLst/>
            <a:ahLst/>
            <a:rect l="0" t="0" r="r" b="b"/>
            <a:pathLst>
              <a:path w="17464" h="28">
                <a:moveTo>
                  <a:pt x="0" y="0"/>
                </a:moveTo>
                <a:lnTo>
                  <a:pt x="17464" y="0"/>
                </a:lnTo>
                <a:lnTo>
                  <a:pt x="174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772040" y="28000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09480" y="317160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495080" y="3171600"/>
            <a:ext cx="6287040" cy="10080"/>
          </a:xfrm>
          <a:custGeom>
            <a:avLst/>
            <a:gdLst/>
            <a:ahLst/>
            <a:rect l="0" t="0" r="r" b="b"/>
            <a:pathLst>
              <a:path w="17464" h="28">
                <a:moveTo>
                  <a:pt x="0" y="0"/>
                </a:moveTo>
                <a:lnTo>
                  <a:pt x="17464" y="0"/>
                </a:lnTo>
                <a:lnTo>
                  <a:pt x="174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09480" y="3181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485720" y="3181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7772040" y="31813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0948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09480" y="355248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48572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495080" y="3552480"/>
            <a:ext cx="6287040" cy="10080"/>
          </a:xfrm>
          <a:custGeom>
            <a:avLst/>
            <a:gdLst/>
            <a:ahLst/>
            <a:rect l="0" t="0" r="r" b="b"/>
            <a:pathLst>
              <a:path w="17464" h="28">
                <a:moveTo>
                  <a:pt x="0" y="0"/>
                </a:moveTo>
                <a:lnTo>
                  <a:pt x="17464" y="0"/>
                </a:lnTo>
                <a:lnTo>
                  <a:pt x="174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7772040" y="3562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09480" y="3933720"/>
            <a:ext cx="885960" cy="9720"/>
          </a:xfrm>
          <a:custGeom>
            <a:avLst/>
            <a:gdLst/>
            <a:ahLst/>
            <a:rect l="0" t="0" r="r" b="b"/>
            <a:pathLst>
              <a:path w="2461" h="27">
                <a:moveTo>
                  <a:pt x="0" y="0"/>
                </a:moveTo>
                <a:lnTo>
                  <a:pt x="2461" y="0"/>
                </a:lnTo>
                <a:lnTo>
                  <a:pt x="24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495080" y="3933720"/>
            <a:ext cx="6287040" cy="9720"/>
          </a:xfrm>
          <a:custGeom>
            <a:avLst/>
            <a:gdLst/>
            <a:ahLst/>
            <a:rect l="0" t="0" r="r" b="b"/>
            <a:pathLst>
              <a:path w="17464" h="27">
                <a:moveTo>
                  <a:pt x="0" y="0"/>
                </a:moveTo>
                <a:lnTo>
                  <a:pt x="17464" y="0"/>
                </a:lnTo>
                <a:lnTo>
                  <a:pt x="174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09480" y="1159200"/>
            <a:ext cx="69843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 problème : X et Y, et un test honnête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09480" y="1947600"/>
            <a:ext cx="10087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Question :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peut-on prédire le ratio de déchets par habitant d'un département à la prochaine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09480" y="2319120"/>
            <a:ext cx="1105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enquête ?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43040" y="2895480"/>
            <a:ext cx="363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Rôle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617480" y="2895480"/>
            <a:ext cx="746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Variables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43040" y="3267000"/>
            <a:ext cx="615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(cible)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617480" y="3267000"/>
            <a:ext cx="1845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ratio DMA en kg/habitant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43040" y="364824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X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885600" y="4248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617480" y="3648240"/>
            <a:ext cx="60062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ratio et tonnage de l'enquête précédente, population, profil de traitement (cluster)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104840" y="4138200"/>
            <a:ext cx="10039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Découpage dans le temps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entraînement 2011–2019 (501 lignes), test 2021 et 2023 (198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885600" y="5047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5"/>
                  <a:pt x="171" y="22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104840" y="4509720"/>
            <a:ext cx="732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lignes)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104840" y="4938480"/>
            <a:ext cx="10030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Pipeline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(MinMaxScaler, OneHotEncoder) calibrée sur l'entraînement seul : pas de fuite de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104840" y="5310000"/>
            <a:ext cx="9540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données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618840" y="219060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3628800" y="219060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4848120" y="2190600"/>
            <a:ext cx="752760" cy="381240"/>
          </a:xfrm>
          <a:custGeom>
            <a:avLst/>
            <a:gdLst/>
            <a:ahLst/>
            <a:rect l="0" t="0" r="r" b="b"/>
            <a:pathLst>
              <a:path w="2091" h="1059">
                <a:moveTo>
                  <a:pt x="0" y="0"/>
                </a:moveTo>
                <a:lnTo>
                  <a:pt x="2091" y="0"/>
                </a:lnTo>
                <a:lnTo>
                  <a:pt x="20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600520" y="219060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618840" y="219060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3628800" y="219060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848120" y="2190600"/>
            <a:ext cx="752760" cy="381240"/>
          </a:xfrm>
          <a:custGeom>
            <a:avLst/>
            <a:gdLst/>
            <a:ahLst/>
            <a:rect l="0" t="0" r="r" b="b"/>
            <a:pathLst>
              <a:path w="2091" h="1059">
                <a:moveTo>
                  <a:pt x="0" y="0"/>
                </a:moveTo>
                <a:lnTo>
                  <a:pt x="2091" y="0"/>
                </a:lnTo>
                <a:lnTo>
                  <a:pt x="20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5600520" y="219060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18840" y="2571480"/>
            <a:ext cx="3010320" cy="371880"/>
          </a:xfrm>
          <a:custGeom>
            <a:avLst/>
            <a:gdLst/>
            <a:ahLst/>
            <a:rect l="0" t="0" r="r" b="b"/>
            <a:pathLst>
              <a:path w="8362" h="1033">
                <a:moveTo>
                  <a:pt x="0" y="0"/>
                </a:moveTo>
                <a:lnTo>
                  <a:pt x="8362" y="0"/>
                </a:lnTo>
                <a:lnTo>
                  <a:pt x="83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3628800" y="257148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4848120" y="2571480"/>
            <a:ext cx="752760" cy="371880"/>
          </a:xfrm>
          <a:custGeom>
            <a:avLst/>
            <a:gdLst/>
            <a:ahLst/>
            <a:rect l="0" t="0" r="r" b="b"/>
            <a:pathLst>
              <a:path w="2091" h="1033">
                <a:moveTo>
                  <a:pt x="0" y="0"/>
                </a:moveTo>
                <a:lnTo>
                  <a:pt x="2091" y="0"/>
                </a:lnTo>
                <a:lnTo>
                  <a:pt x="20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5600520" y="25714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18840" y="294300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3628800" y="294300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4848120" y="2943000"/>
            <a:ext cx="752760" cy="381240"/>
          </a:xfrm>
          <a:custGeom>
            <a:avLst/>
            <a:gdLst/>
            <a:ahLst/>
            <a:rect l="0" t="0" r="r" b="b"/>
            <a:pathLst>
              <a:path w="2091" h="1059">
                <a:moveTo>
                  <a:pt x="0" y="0"/>
                </a:moveTo>
                <a:lnTo>
                  <a:pt x="2091" y="0"/>
                </a:lnTo>
                <a:lnTo>
                  <a:pt x="20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600520" y="294300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18840" y="3323880"/>
            <a:ext cx="3010320" cy="381600"/>
          </a:xfrm>
          <a:custGeom>
            <a:avLst/>
            <a:gdLst/>
            <a:ahLst/>
            <a:rect l="0" t="0" r="r" b="b"/>
            <a:pathLst>
              <a:path w="8362" h="1060">
                <a:moveTo>
                  <a:pt x="0" y="0"/>
                </a:moveTo>
                <a:lnTo>
                  <a:pt x="8362" y="0"/>
                </a:lnTo>
                <a:lnTo>
                  <a:pt x="836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628800" y="3323880"/>
            <a:ext cx="1219680" cy="381600"/>
          </a:xfrm>
          <a:custGeom>
            <a:avLst/>
            <a:gdLst/>
            <a:ahLst/>
            <a:rect l="0" t="0" r="r" b="b"/>
            <a:pathLst>
              <a:path w="3388" h="1060">
                <a:moveTo>
                  <a:pt x="0" y="0"/>
                </a:moveTo>
                <a:lnTo>
                  <a:pt x="3388" y="0"/>
                </a:lnTo>
                <a:lnTo>
                  <a:pt x="338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848120" y="3323880"/>
            <a:ext cx="752760" cy="381600"/>
          </a:xfrm>
          <a:custGeom>
            <a:avLst/>
            <a:gdLst/>
            <a:ahLst/>
            <a:rect l="0" t="0" r="r" b="b"/>
            <a:pathLst>
              <a:path w="2091" h="1060">
                <a:moveTo>
                  <a:pt x="0" y="0"/>
                </a:moveTo>
                <a:lnTo>
                  <a:pt x="2091" y="0"/>
                </a:lnTo>
                <a:lnTo>
                  <a:pt x="209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5600520" y="3323880"/>
            <a:ext cx="771840" cy="381600"/>
          </a:xfrm>
          <a:custGeom>
            <a:avLst/>
            <a:gdLst/>
            <a:ahLst/>
            <a:rect l="0" t="0" r="r" b="b"/>
            <a:pathLst>
              <a:path w="2144" h="1060">
                <a:moveTo>
                  <a:pt x="0" y="0"/>
                </a:moveTo>
                <a:lnTo>
                  <a:pt x="2144" y="0"/>
                </a:lnTo>
                <a:lnTo>
                  <a:pt x="21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18840" y="3705120"/>
            <a:ext cx="3010320" cy="371880"/>
          </a:xfrm>
          <a:custGeom>
            <a:avLst/>
            <a:gdLst/>
            <a:ahLst/>
            <a:rect l="0" t="0" r="r" b="b"/>
            <a:pathLst>
              <a:path w="8362" h="1033">
                <a:moveTo>
                  <a:pt x="0" y="0"/>
                </a:moveTo>
                <a:lnTo>
                  <a:pt x="8362" y="0"/>
                </a:lnTo>
                <a:lnTo>
                  <a:pt x="83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3628800" y="370512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4848120" y="3705120"/>
            <a:ext cx="752760" cy="371880"/>
          </a:xfrm>
          <a:custGeom>
            <a:avLst/>
            <a:gdLst/>
            <a:ahLst/>
            <a:rect l="0" t="0" r="r" b="b"/>
            <a:pathLst>
              <a:path w="2091" h="1033">
                <a:moveTo>
                  <a:pt x="0" y="0"/>
                </a:moveTo>
                <a:lnTo>
                  <a:pt x="2091" y="0"/>
                </a:lnTo>
                <a:lnTo>
                  <a:pt x="20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600520" y="37051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618840" y="407664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628800" y="407664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4848120" y="4076640"/>
            <a:ext cx="752760" cy="381240"/>
          </a:xfrm>
          <a:custGeom>
            <a:avLst/>
            <a:gdLst/>
            <a:ahLst/>
            <a:rect l="0" t="0" r="r" b="b"/>
            <a:pathLst>
              <a:path w="2091" h="1059">
                <a:moveTo>
                  <a:pt x="0" y="0"/>
                </a:moveTo>
                <a:lnTo>
                  <a:pt x="2091" y="0"/>
                </a:lnTo>
                <a:lnTo>
                  <a:pt x="20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600520" y="407664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09480" y="21906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09480" y="219060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3628800" y="21906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3638520" y="219060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4848120" y="21906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4857480" y="219060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591160" y="21906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600520" y="219060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6372000" y="21906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09480" y="256212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3638520" y="256212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4857480" y="256212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600520" y="256212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0948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628800" y="25714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484812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559116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6372000" y="25714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09480" y="29527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09480" y="294300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3628800" y="29527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3638520" y="294300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4848120" y="29527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857480" y="2943000"/>
            <a:ext cx="743400" cy="10080"/>
          </a:xfrm>
          <a:custGeom>
            <a:avLst/>
            <a:gdLst/>
            <a:ahLst/>
            <a:rect l="0" t="0" r="r" b="b"/>
            <a:pathLst>
              <a:path w="2065" h="28">
                <a:moveTo>
                  <a:pt x="0" y="0"/>
                </a:moveTo>
                <a:lnTo>
                  <a:pt x="2065" y="0"/>
                </a:lnTo>
                <a:lnTo>
                  <a:pt x="20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5591160" y="29527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600520" y="294300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2171" y="0"/>
                </a:lnTo>
                <a:lnTo>
                  <a:pt x="2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372000" y="29527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09480" y="3323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609480" y="331452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3628800" y="33238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3638520" y="331452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4848120" y="3323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857480" y="331452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591160" y="3323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5600520" y="331452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372000" y="33238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09480" y="3705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09480" y="369540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3628800" y="37051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3638520" y="369540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4848120" y="3705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4857480" y="3695400"/>
            <a:ext cx="743400" cy="10080"/>
          </a:xfrm>
          <a:custGeom>
            <a:avLst/>
            <a:gdLst/>
            <a:ahLst/>
            <a:rect l="0" t="0" r="r" b="b"/>
            <a:pathLst>
              <a:path w="2065" h="28">
                <a:moveTo>
                  <a:pt x="0" y="0"/>
                </a:moveTo>
                <a:lnTo>
                  <a:pt x="2065" y="0"/>
                </a:lnTo>
                <a:lnTo>
                  <a:pt x="20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591160" y="3705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600520" y="369540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2171" y="0"/>
                </a:lnTo>
                <a:lnTo>
                  <a:pt x="2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372000" y="37051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09480" y="4086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09480" y="407664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628800" y="40860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3638520" y="407664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4848120" y="4086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4857480" y="407664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591160" y="4086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600520" y="407664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372000" y="40860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09480" y="444816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3638520" y="444816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4857480" y="4448160"/>
            <a:ext cx="743400" cy="9720"/>
          </a:xfrm>
          <a:custGeom>
            <a:avLst/>
            <a:gdLst/>
            <a:ahLst/>
            <a:rect l="0" t="0" r="r" b="b"/>
            <a:pathLst>
              <a:path w="2065" h="27">
                <a:moveTo>
                  <a:pt x="0" y="0"/>
                </a:moveTo>
                <a:lnTo>
                  <a:pt x="2065" y="0"/>
                </a:lnTo>
                <a:lnTo>
                  <a:pt x="20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600520" y="444816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609480" y="1445040"/>
            <a:ext cx="79567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Résultat : aucun modèle ne bat la règle naïve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43040" y="2286000"/>
            <a:ext cx="19202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Modèle (test 2021–2023)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760560" y="2286000"/>
            <a:ext cx="96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MAE kg/hab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4981320" y="2286000"/>
            <a:ext cx="484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RMSE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066720" y="2286000"/>
            <a:ext cx="177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R²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43040" y="2657520"/>
            <a:ext cx="137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Baseline moyenne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4302720" y="26575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61,99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5046480" y="26575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82,14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5724720" y="2657520"/>
            <a:ext cx="518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−0,010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43040" y="3038400"/>
            <a:ext cx="2750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Baseline naïve (enquête précédente)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4302720" y="30384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36,49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5046480" y="30384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44,58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5823000" y="30384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0,702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43040" y="3409920"/>
            <a:ext cx="1547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Régression linéaire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4302720" y="34099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35,75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5046480" y="34099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43,53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5823000" y="34099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0,716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43040" y="3790800"/>
            <a:ext cx="1305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Arbre de décision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4302720" y="37908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37,04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5046480" y="37908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45,58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5823000" y="37908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0,689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743040" y="4172040"/>
            <a:ext cx="1155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Random Forest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4302720" y="417204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36,08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5046480" y="417204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44,36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5823000" y="417204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0,705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609480" y="4652640"/>
            <a:ext cx="107060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Gain sur la règle naïve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0,74 kg/hab, soit 2 % de l'erreur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. La valeur précédente porte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94,9 %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de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609480" y="5024160"/>
            <a:ext cx="29340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l'importance des variables.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1832120" y="64800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6" name=""/>
          <p:cNvPicPr/>
          <p:nvPr/>
        </p:nvPicPr>
        <p:blipFill>
          <a:blip r:embed="rId1"/>
          <a:stretch/>
        </p:blipFill>
        <p:spPr>
          <a:xfrm>
            <a:off x="6343560" y="828720"/>
            <a:ext cx="5847840" cy="520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"/>
          <p:cNvSpPr txBox="1"/>
          <p:nvPr/>
        </p:nvSpPr>
        <p:spPr>
          <a:xfrm>
            <a:off x="609480" y="844920"/>
            <a:ext cx="48567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Où le modèle se trompe : la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885600" y="2209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609480" y="1311480"/>
            <a:ext cx="41338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géographie des erreurs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104840" y="2099880"/>
            <a:ext cx="3991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erreurs ne sont pas réparties au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885600" y="3009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104840" y="2471400"/>
            <a:ext cx="760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hasard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104840" y="2900160"/>
            <a:ext cx="4315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Corse : +51,8 kg/hab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de surestimation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1104840" y="3271680"/>
            <a:ext cx="4129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moyenne (10 à 15 pour la plupart des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885600" y="4190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104840" y="3643200"/>
            <a:ext cx="898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régions)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104840" y="4081320"/>
            <a:ext cx="4074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Hypothèse : les touristes ne sont pas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885600" y="49910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104840" y="4452480"/>
            <a:ext cx="4115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comptés dans la population résidente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104840" y="4881240"/>
            <a:ext cx="4431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Eure-et-Loir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et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Territoire-de-Belfort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se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104840" y="5252760"/>
            <a:ext cx="3687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distinguent aussi : on y revient en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104840" y="5624280"/>
            <a:ext cx="1174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09480" y="2437920"/>
            <a:ext cx="17902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Partie 3</a:t>
            </a:r>
            <a:endParaRPr lang="fr-FR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09480" y="3439800"/>
            <a:ext cx="52005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1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Segmenter : les profils de départements</a:t>
            </a:r>
            <a:endParaRPr lang="fr-FR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609480" y="4043160"/>
            <a:ext cx="12157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16 minutes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176768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609480" y="3400200"/>
            <a:ext cx="57600" cy="743400"/>
          </a:xfrm>
          <a:custGeom>
            <a:avLst/>
            <a:gdLst/>
            <a:ahLst/>
            <a:rect l="0" t="0" r="r" b="b"/>
            <a:pathLst>
              <a:path w="160" h="2065">
                <a:moveTo>
                  <a:pt x="0" y="0"/>
                </a:moveTo>
                <a:lnTo>
                  <a:pt x="160" y="0"/>
                </a:lnTo>
                <a:lnTo>
                  <a:pt x="160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09480" y="1759320"/>
            <a:ext cx="33685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Une autre question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09480" y="2547720"/>
            <a:ext cx="5027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En supervisé : une réponse connue à prédire.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09480" y="2919240"/>
            <a:ext cx="7387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Ici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aucune réponse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, on cherche des groupes qui se ressemblent.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914400" y="3443040"/>
            <a:ext cx="10201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Existe-t-il des profils types de départements selon la façon dont leurs habitants jettent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914400" y="3814560"/>
            <a:ext cx="18230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leurs déchets ?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09480" y="4338360"/>
            <a:ext cx="10670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 clustering regroupe sur les variables qu'on lui donne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choisir les variables, c'est décider de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09480" y="4709880"/>
            <a:ext cx="4115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ce que « se ressembler » veut dire.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618840" y="1761840"/>
            <a:ext cx="3153240" cy="371880"/>
          </a:xfrm>
          <a:custGeom>
            <a:avLst/>
            <a:gdLst/>
            <a:ahLst/>
            <a:rect l="0" t="0" r="r" b="b"/>
            <a:pathLst>
              <a:path w="8759" h="1033">
                <a:moveTo>
                  <a:pt x="0" y="0"/>
                </a:moveTo>
                <a:lnTo>
                  <a:pt x="8759" y="0"/>
                </a:lnTo>
                <a:lnTo>
                  <a:pt x="87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771720" y="1761840"/>
            <a:ext cx="991080" cy="371880"/>
          </a:xfrm>
          <a:custGeom>
            <a:avLst/>
            <a:gdLst/>
            <a:ahLst/>
            <a:rect l="0" t="0" r="r" b="b"/>
            <a:pathLst>
              <a:path w="2753" h="1033">
                <a:moveTo>
                  <a:pt x="0" y="0"/>
                </a:moveTo>
                <a:lnTo>
                  <a:pt x="2753" y="0"/>
                </a:lnTo>
                <a:lnTo>
                  <a:pt x="27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4762440" y="1761840"/>
            <a:ext cx="543240" cy="371880"/>
          </a:xfrm>
          <a:custGeom>
            <a:avLst/>
            <a:gdLst/>
            <a:ahLst/>
            <a:rect l="0" t="0" r="r" b="b"/>
            <a:pathLst>
              <a:path w="1509" h="1033">
                <a:moveTo>
                  <a:pt x="0" y="0"/>
                </a:moveTo>
                <a:lnTo>
                  <a:pt x="1509" y="0"/>
                </a:lnTo>
                <a:lnTo>
                  <a:pt x="150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5305320" y="1761840"/>
            <a:ext cx="581400" cy="371880"/>
          </a:xfrm>
          <a:custGeom>
            <a:avLst/>
            <a:gdLst/>
            <a:ahLst/>
            <a:rect l="0" t="0" r="r" b="b"/>
            <a:pathLst>
              <a:path w="1615" h="1033">
                <a:moveTo>
                  <a:pt x="0" y="0"/>
                </a:moveTo>
                <a:lnTo>
                  <a:pt x="1615" y="0"/>
                </a:lnTo>
                <a:lnTo>
                  <a:pt x="16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18840" y="1761840"/>
            <a:ext cx="3153240" cy="371880"/>
          </a:xfrm>
          <a:custGeom>
            <a:avLst/>
            <a:gdLst/>
            <a:ahLst/>
            <a:rect l="0" t="0" r="r" b="b"/>
            <a:pathLst>
              <a:path w="8759" h="1033">
                <a:moveTo>
                  <a:pt x="0" y="0"/>
                </a:moveTo>
                <a:lnTo>
                  <a:pt x="8759" y="0"/>
                </a:lnTo>
                <a:lnTo>
                  <a:pt x="87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3771720" y="1761840"/>
            <a:ext cx="991080" cy="371880"/>
          </a:xfrm>
          <a:custGeom>
            <a:avLst/>
            <a:gdLst/>
            <a:ahLst/>
            <a:rect l="0" t="0" r="r" b="b"/>
            <a:pathLst>
              <a:path w="2753" h="1033">
                <a:moveTo>
                  <a:pt x="0" y="0"/>
                </a:moveTo>
                <a:lnTo>
                  <a:pt x="2753" y="0"/>
                </a:lnTo>
                <a:lnTo>
                  <a:pt x="27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4762440" y="1761840"/>
            <a:ext cx="543240" cy="371880"/>
          </a:xfrm>
          <a:custGeom>
            <a:avLst/>
            <a:gdLst/>
            <a:ahLst/>
            <a:rect l="0" t="0" r="r" b="b"/>
            <a:pathLst>
              <a:path w="1509" h="1033">
                <a:moveTo>
                  <a:pt x="0" y="0"/>
                </a:moveTo>
                <a:lnTo>
                  <a:pt x="1509" y="0"/>
                </a:lnTo>
                <a:lnTo>
                  <a:pt x="150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5305320" y="1761840"/>
            <a:ext cx="581400" cy="371880"/>
          </a:xfrm>
          <a:custGeom>
            <a:avLst/>
            <a:gdLst/>
            <a:ahLst/>
            <a:rect l="0" t="0" r="r" b="b"/>
            <a:pathLst>
              <a:path w="1615" h="1033">
                <a:moveTo>
                  <a:pt x="0" y="0"/>
                </a:moveTo>
                <a:lnTo>
                  <a:pt x="1615" y="0"/>
                </a:lnTo>
                <a:lnTo>
                  <a:pt x="16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618840" y="2133360"/>
            <a:ext cx="3153240" cy="381240"/>
          </a:xfrm>
          <a:custGeom>
            <a:avLst/>
            <a:gdLst/>
            <a:ahLst/>
            <a:rect l="0" t="0" r="r" b="b"/>
            <a:pathLst>
              <a:path w="8759" h="1059">
                <a:moveTo>
                  <a:pt x="0" y="0"/>
                </a:moveTo>
                <a:lnTo>
                  <a:pt x="8759" y="0"/>
                </a:lnTo>
                <a:lnTo>
                  <a:pt x="87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3771720" y="2133360"/>
            <a:ext cx="991080" cy="381240"/>
          </a:xfrm>
          <a:custGeom>
            <a:avLst/>
            <a:gdLst/>
            <a:ahLst/>
            <a:rect l="0" t="0" r="r" b="b"/>
            <a:pathLst>
              <a:path w="2753" h="1059">
                <a:moveTo>
                  <a:pt x="0" y="0"/>
                </a:moveTo>
                <a:lnTo>
                  <a:pt x="2753" y="0"/>
                </a:lnTo>
                <a:lnTo>
                  <a:pt x="27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762440" y="2133360"/>
            <a:ext cx="543240" cy="381240"/>
          </a:xfrm>
          <a:custGeom>
            <a:avLst/>
            <a:gdLst/>
            <a:ahLst/>
            <a:rect l="0" t="0" r="r" b="b"/>
            <a:pathLst>
              <a:path w="1509" h="1059">
                <a:moveTo>
                  <a:pt x="0" y="0"/>
                </a:moveTo>
                <a:lnTo>
                  <a:pt x="1509" y="0"/>
                </a:lnTo>
                <a:lnTo>
                  <a:pt x="150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305320" y="2133360"/>
            <a:ext cx="581400" cy="381240"/>
          </a:xfrm>
          <a:custGeom>
            <a:avLst/>
            <a:gdLst/>
            <a:ahLst/>
            <a:rect l="0" t="0" r="r" b="b"/>
            <a:pathLst>
              <a:path w="1615" h="1059">
                <a:moveTo>
                  <a:pt x="0" y="0"/>
                </a:moveTo>
                <a:lnTo>
                  <a:pt x="1615" y="0"/>
                </a:lnTo>
                <a:lnTo>
                  <a:pt x="16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618840" y="2514240"/>
            <a:ext cx="3153240" cy="371880"/>
          </a:xfrm>
          <a:custGeom>
            <a:avLst/>
            <a:gdLst/>
            <a:ahLst/>
            <a:rect l="0" t="0" r="r" b="b"/>
            <a:pathLst>
              <a:path w="8759" h="1033">
                <a:moveTo>
                  <a:pt x="0" y="0"/>
                </a:moveTo>
                <a:lnTo>
                  <a:pt x="8759" y="0"/>
                </a:lnTo>
                <a:lnTo>
                  <a:pt x="87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3771720" y="2514240"/>
            <a:ext cx="991080" cy="371880"/>
          </a:xfrm>
          <a:custGeom>
            <a:avLst/>
            <a:gdLst/>
            <a:ahLst/>
            <a:rect l="0" t="0" r="r" b="b"/>
            <a:pathLst>
              <a:path w="2753" h="1033">
                <a:moveTo>
                  <a:pt x="0" y="0"/>
                </a:moveTo>
                <a:lnTo>
                  <a:pt x="2753" y="0"/>
                </a:lnTo>
                <a:lnTo>
                  <a:pt x="27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4762440" y="2514240"/>
            <a:ext cx="543240" cy="371880"/>
          </a:xfrm>
          <a:custGeom>
            <a:avLst/>
            <a:gdLst/>
            <a:ahLst/>
            <a:rect l="0" t="0" r="r" b="b"/>
            <a:pathLst>
              <a:path w="1509" h="1033">
                <a:moveTo>
                  <a:pt x="0" y="0"/>
                </a:moveTo>
                <a:lnTo>
                  <a:pt x="1509" y="0"/>
                </a:lnTo>
                <a:lnTo>
                  <a:pt x="150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5305320" y="2514240"/>
            <a:ext cx="581400" cy="371880"/>
          </a:xfrm>
          <a:custGeom>
            <a:avLst/>
            <a:gdLst/>
            <a:ahLst/>
            <a:rect l="0" t="0" r="r" b="b"/>
            <a:pathLst>
              <a:path w="1615" h="1033">
                <a:moveTo>
                  <a:pt x="0" y="0"/>
                </a:moveTo>
                <a:lnTo>
                  <a:pt x="1615" y="0"/>
                </a:lnTo>
                <a:lnTo>
                  <a:pt x="16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618840" y="2885760"/>
            <a:ext cx="3153240" cy="381600"/>
          </a:xfrm>
          <a:custGeom>
            <a:avLst/>
            <a:gdLst/>
            <a:ahLst/>
            <a:rect l="0" t="0" r="r" b="b"/>
            <a:pathLst>
              <a:path w="8759" h="1060">
                <a:moveTo>
                  <a:pt x="0" y="0"/>
                </a:moveTo>
                <a:lnTo>
                  <a:pt x="8759" y="0"/>
                </a:lnTo>
                <a:lnTo>
                  <a:pt x="875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3771720" y="2885760"/>
            <a:ext cx="991080" cy="381600"/>
          </a:xfrm>
          <a:custGeom>
            <a:avLst/>
            <a:gdLst/>
            <a:ahLst/>
            <a:rect l="0" t="0" r="r" b="b"/>
            <a:pathLst>
              <a:path w="2753" h="1060">
                <a:moveTo>
                  <a:pt x="0" y="0"/>
                </a:moveTo>
                <a:lnTo>
                  <a:pt x="2753" y="0"/>
                </a:lnTo>
                <a:lnTo>
                  <a:pt x="275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4762440" y="2885760"/>
            <a:ext cx="543240" cy="381600"/>
          </a:xfrm>
          <a:custGeom>
            <a:avLst/>
            <a:gdLst/>
            <a:ahLst/>
            <a:rect l="0" t="0" r="r" b="b"/>
            <a:pathLst>
              <a:path w="1509" h="1060">
                <a:moveTo>
                  <a:pt x="0" y="0"/>
                </a:moveTo>
                <a:lnTo>
                  <a:pt x="1509" y="0"/>
                </a:lnTo>
                <a:lnTo>
                  <a:pt x="150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5305320" y="2885760"/>
            <a:ext cx="581400" cy="381600"/>
          </a:xfrm>
          <a:custGeom>
            <a:avLst/>
            <a:gdLst/>
            <a:ahLst/>
            <a:rect l="0" t="0" r="r" b="b"/>
            <a:pathLst>
              <a:path w="1615" h="1060">
                <a:moveTo>
                  <a:pt x="0" y="0"/>
                </a:moveTo>
                <a:lnTo>
                  <a:pt x="1615" y="0"/>
                </a:lnTo>
                <a:lnTo>
                  <a:pt x="161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618840" y="3267000"/>
            <a:ext cx="3153240" cy="381240"/>
          </a:xfrm>
          <a:custGeom>
            <a:avLst/>
            <a:gdLst/>
            <a:ahLst/>
            <a:rect l="0" t="0" r="r" b="b"/>
            <a:pathLst>
              <a:path w="8759" h="1059">
                <a:moveTo>
                  <a:pt x="0" y="0"/>
                </a:moveTo>
                <a:lnTo>
                  <a:pt x="8759" y="0"/>
                </a:lnTo>
                <a:lnTo>
                  <a:pt x="87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3771720" y="3267000"/>
            <a:ext cx="991080" cy="381240"/>
          </a:xfrm>
          <a:custGeom>
            <a:avLst/>
            <a:gdLst/>
            <a:ahLst/>
            <a:rect l="0" t="0" r="r" b="b"/>
            <a:pathLst>
              <a:path w="2753" h="1059">
                <a:moveTo>
                  <a:pt x="0" y="0"/>
                </a:moveTo>
                <a:lnTo>
                  <a:pt x="2753" y="0"/>
                </a:lnTo>
                <a:lnTo>
                  <a:pt x="27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4762440" y="3267000"/>
            <a:ext cx="543240" cy="381240"/>
          </a:xfrm>
          <a:custGeom>
            <a:avLst/>
            <a:gdLst/>
            <a:ahLst/>
            <a:rect l="0" t="0" r="r" b="b"/>
            <a:pathLst>
              <a:path w="1509" h="1059">
                <a:moveTo>
                  <a:pt x="0" y="0"/>
                </a:moveTo>
                <a:lnTo>
                  <a:pt x="1509" y="0"/>
                </a:lnTo>
                <a:lnTo>
                  <a:pt x="150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5305320" y="3267000"/>
            <a:ext cx="581400" cy="381240"/>
          </a:xfrm>
          <a:custGeom>
            <a:avLst/>
            <a:gdLst/>
            <a:ahLst/>
            <a:rect l="0" t="0" r="r" b="b"/>
            <a:pathLst>
              <a:path w="1615" h="1059">
                <a:moveTo>
                  <a:pt x="0" y="0"/>
                </a:moveTo>
                <a:lnTo>
                  <a:pt x="1615" y="0"/>
                </a:lnTo>
                <a:lnTo>
                  <a:pt x="161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618840" y="3647880"/>
            <a:ext cx="3153240" cy="371880"/>
          </a:xfrm>
          <a:custGeom>
            <a:avLst/>
            <a:gdLst/>
            <a:ahLst/>
            <a:rect l="0" t="0" r="r" b="b"/>
            <a:pathLst>
              <a:path w="8759" h="1033">
                <a:moveTo>
                  <a:pt x="0" y="0"/>
                </a:moveTo>
                <a:lnTo>
                  <a:pt x="8759" y="0"/>
                </a:lnTo>
                <a:lnTo>
                  <a:pt x="87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3771720" y="3647880"/>
            <a:ext cx="991080" cy="371880"/>
          </a:xfrm>
          <a:custGeom>
            <a:avLst/>
            <a:gdLst/>
            <a:ahLst/>
            <a:rect l="0" t="0" r="r" b="b"/>
            <a:pathLst>
              <a:path w="2753" h="1033">
                <a:moveTo>
                  <a:pt x="0" y="0"/>
                </a:moveTo>
                <a:lnTo>
                  <a:pt x="2753" y="0"/>
                </a:lnTo>
                <a:lnTo>
                  <a:pt x="27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4762440" y="3647880"/>
            <a:ext cx="543240" cy="371880"/>
          </a:xfrm>
          <a:custGeom>
            <a:avLst/>
            <a:gdLst/>
            <a:ahLst/>
            <a:rect l="0" t="0" r="r" b="b"/>
            <a:pathLst>
              <a:path w="1509" h="1033">
                <a:moveTo>
                  <a:pt x="0" y="0"/>
                </a:moveTo>
                <a:lnTo>
                  <a:pt x="1509" y="0"/>
                </a:lnTo>
                <a:lnTo>
                  <a:pt x="150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5305320" y="3647880"/>
            <a:ext cx="581400" cy="371880"/>
          </a:xfrm>
          <a:custGeom>
            <a:avLst/>
            <a:gdLst/>
            <a:ahLst/>
            <a:rect l="0" t="0" r="r" b="b"/>
            <a:pathLst>
              <a:path w="1615" h="1033">
                <a:moveTo>
                  <a:pt x="0" y="0"/>
                </a:moveTo>
                <a:lnTo>
                  <a:pt x="1615" y="0"/>
                </a:lnTo>
                <a:lnTo>
                  <a:pt x="16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609480" y="17524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609480" y="175248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3762360" y="17524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3771720" y="175248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4752720" y="17524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4762440" y="175248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1509" y="0"/>
                </a:lnTo>
                <a:lnTo>
                  <a:pt x="1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295600" y="17524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5305320" y="17524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5886360" y="17524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609480" y="2133360"/>
            <a:ext cx="3162600" cy="10080"/>
          </a:xfrm>
          <a:custGeom>
            <a:avLst/>
            <a:gdLst/>
            <a:ah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3771720" y="213336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4762440" y="2133360"/>
            <a:ext cx="543240" cy="10080"/>
          </a:xfrm>
          <a:custGeom>
            <a:avLst/>
            <a:gdLst/>
            <a:ahLst/>
            <a:rect l="0" t="0" r="r" b="b"/>
            <a:pathLst>
              <a:path w="1509" h="28">
                <a:moveTo>
                  <a:pt x="0" y="0"/>
                </a:moveTo>
                <a:lnTo>
                  <a:pt x="1509" y="0"/>
                </a:lnTo>
                <a:lnTo>
                  <a:pt x="1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5305320" y="213336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09480" y="21430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3762360" y="21430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4752720" y="21430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295600" y="21430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886360" y="21430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09480" y="25142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609480" y="250488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762360" y="25142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771720" y="250488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4752720" y="25142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4762440" y="250488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1509" y="0"/>
                </a:lnTo>
                <a:lnTo>
                  <a:pt x="1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5295600" y="25142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305320" y="25048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5886360" y="25142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609480" y="28954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609480" y="2885760"/>
            <a:ext cx="3162600" cy="10080"/>
          </a:xfrm>
          <a:custGeom>
            <a:avLst/>
            <a:gdLst/>
            <a:ah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762360" y="28954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3771720" y="288576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4752720" y="28954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4762440" y="2885760"/>
            <a:ext cx="543240" cy="10080"/>
          </a:xfrm>
          <a:custGeom>
            <a:avLst/>
            <a:gdLst/>
            <a:ahLst/>
            <a:rect l="0" t="0" r="r" b="b"/>
            <a:pathLst>
              <a:path w="1509" h="28">
                <a:moveTo>
                  <a:pt x="0" y="0"/>
                </a:moveTo>
                <a:lnTo>
                  <a:pt x="1509" y="0"/>
                </a:lnTo>
                <a:lnTo>
                  <a:pt x="15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295600" y="28954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305320" y="288576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5886360" y="28954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60948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609480" y="326700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376236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3771720" y="326700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4752720" y="32763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4762440" y="326700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1509" y="0"/>
                </a:lnTo>
                <a:lnTo>
                  <a:pt x="1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5295600" y="32763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5305320" y="326700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88636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609480" y="3647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609480" y="363852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762360" y="3647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3771720" y="363852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4752720" y="3647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4762440" y="363852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1509" y="0"/>
                </a:lnTo>
                <a:lnTo>
                  <a:pt x="1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5295600" y="3647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305320" y="363852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886360" y="3647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609480" y="4019400"/>
            <a:ext cx="3162600" cy="9720"/>
          </a:xfrm>
          <a:custGeom>
            <a:avLst/>
            <a:gdLst/>
            <a:ah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771720" y="401940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4762440" y="401940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1509" y="0"/>
                </a:lnTo>
                <a:lnTo>
                  <a:pt x="15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305320" y="401940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609480" y="1006920"/>
            <a:ext cx="73774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Choix des variables : 5 flux de production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743040" y="1847880"/>
            <a:ext cx="1705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Variable (kg/habitant)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3899880" y="1847880"/>
            <a:ext cx="72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Moyenne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4886640" y="1847880"/>
            <a:ext cx="28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Min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5433840" y="184788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Max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43040" y="2228760"/>
            <a:ext cx="2889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Ordures ménagères résiduelles (OMR)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4348440" y="22287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239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4895640" y="22287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135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5480280" y="22287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459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43040" y="2600280"/>
            <a:ext cx="1621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Matériaux recyclables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4348440" y="26002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132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4989240" y="26002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5480280" y="26002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43040" y="2981160"/>
            <a:ext cx="2069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Déchets verts et biodéchets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4442400" y="29811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88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5082840" y="298116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5480280" y="29811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280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43040" y="3362400"/>
            <a:ext cx="988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Encombrants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442400" y="336240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78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4989240" y="336240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5480280" y="336240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122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743040" y="3733920"/>
            <a:ext cx="1454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Déchets dangereux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442400" y="373392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4942440" y="3733920"/>
            <a:ext cx="233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885600" y="4333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5573880" y="373392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104840" y="4223880"/>
            <a:ext cx="10451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Production retenue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, traitement écarté : déchets verts et compostage corrélés à 0,71, ce serait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885600" y="5133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1" y="190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104840" y="4595400"/>
            <a:ext cx="3714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compter deux fois la même chose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885600" y="5572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1104840" y="5024160"/>
            <a:ext cx="6048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Écartés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gravats, « autres », total (somme des autres)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104840" y="5462280"/>
            <a:ext cx="6283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Gardés pour interpréter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population, revenu, traitement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885600" y="1371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09480" y="473400"/>
            <a:ext cx="7832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Préparer : kg par habitant et standardisation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885600" y="1800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1104840" y="1261800"/>
            <a:ext cx="6599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kg/habitant, pas tonnes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pour comparer Paris et la Lozère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1104840" y="1690560"/>
            <a:ext cx="9942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Une ligne par département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moyenne des enquêtes 2019 et 2021 →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100 départements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885600" y="2609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104840" y="2061720"/>
            <a:ext cx="2306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(Mayotte sans détail)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104840" y="2500200"/>
            <a:ext cx="10293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Standardisation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(moyenne 0, écart-type 1) : sans elle, les OMR (~240 kg) pèseraient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24 fois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609480" y="3352680"/>
            <a:ext cx="4476960" cy="3505320"/>
          </a:xfrm>
          <a:custGeom>
            <a:avLst/>
            <a:gdLst/>
            <a:ahLst/>
            <a:rect l="0" t="0" r="r" b="b"/>
            <a:pathLst>
              <a:path w="12436" h="9737">
                <a:moveTo>
                  <a:pt x="0" y="0"/>
                </a:moveTo>
                <a:lnTo>
                  <a:pt x="12436" y="0"/>
                </a:lnTo>
                <a:lnTo>
                  <a:pt x="12436" y="9737"/>
                </a:lnTo>
                <a:lnTo>
                  <a:pt x="0" y="97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1" name=""/>
          <p:cNvPicPr/>
          <p:nvPr/>
        </p:nvPicPr>
        <p:blipFill>
          <a:blip r:embed="rId1"/>
          <a:stretch/>
        </p:blipFill>
        <p:spPr>
          <a:xfrm>
            <a:off x="609480" y="3352680"/>
            <a:ext cx="4476240" cy="36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2" name=""/>
          <p:cNvSpPr txBox="1"/>
          <p:nvPr/>
        </p:nvSpPr>
        <p:spPr>
          <a:xfrm>
            <a:off x="1104840" y="2871360"/>
            <a:ext cx="6608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plus que les déchets dangereux (~10 kg) dans les distances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618840" y="4305240"/>
            <a:ext cx="2296080" cy="371880"/>
          </a:xfrm>
          <a:custGeom>
            <a:avLst/>
            <a:gdLst/>
            <a:ahLst/>
            <a:rect l="0" t="0" r="r" b="b"/>
            <a:pathLst>
              <a:path w="6378" h="1033">
                <a:moveTo>
                  <a:pt x="0" y="0"/>
                </a:moveTo>
                <a:lnTo>
                  <a:pt x="6378" y="0"/>
                </a:lnTo>
                <a:lnTo>
                  <a:pt x="63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914560" y="4305240"/>
            <a:ext cx="5019840" cy="371880"/>
          </a:xfrm>
          <a:custGeom>
            <a:avLst/>
            <a:gdLst/>
            <a:ahLst/>
            <a:rect l="0" t="0" r="r" b="b"/>
            <a:pathLst>
              <a:path w="13944" h="1033">
                <a:moveTo>
                  <a:pt x="0" y="0"/>
                </a:moveTo>
                <a:lnTo>
                  <a:pt x="13944" y="0"/>
                </a:lnTo>
                <a:lnTo>
                  <a:pt x="139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18840" y="4305240"/>
            <a:ext cx="2296080" cy="371880"/>
          </a:xfrm>
          <a:custGeom>
            <a:avLst/>
            <a:gdLst/>
            <a:ahLst/>
            <a:rect l="0" t="0" r="r" b="b"/>
            <a:pathLst>
              <a:path w="6378" h="1033">
                <a:moveTo>
                  <a:pt x="0" y="0"/>
                </a:moveTo>
                <a:lnTo>
                  <a:pt x="6378" y="0"/>
                </a:lnTo>
                <a:lnTo>
                  <a:pt x="63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914560" y="4305240"/>
            <a:ext cx="5019840" cy="371880"/>
          </a:xfrm>
          <a:custGeom>
            <a:avLst/>
            <a:gdLst/>
            <a:ahLst/>
            <a:rect l="0" t="0" r="r" b="b"/>
            <a:pathLst>
              <a:path w="13944" h="1033">
                <a:moveTo>
                  <a:pt x="0" y="0"/>
                </a:moveTo>
                <a:lnTo>
                  <a:pt x="13944" y="0"/>
                </a:lnTo>
                <a:lnTo>
                  <a:pt x="139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618840" y="4676760"/>
            <a:ext cx="2296080" cy="381240"/>
          </a:xfrm>
          <a:custGeom>
            <a:avLst/>
            <a:gdLst/>
            <a:ahLst/>
            <a:rect l="0" t="0" r="r" b="b"/>
            <a:pathLst>
              <a:path w="6378" h="1059">
                <a:moveTo>
                  <a:pt x="0" y="0"/>
                </a:moveTo>
                <a:lnTo>
                  <a:pt x="6378" y="0"/>
                </a:lnTo>
                <a:lnTo>
                  <a:pt x="63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914560" y="4676760"/>
            <a:ext cx="5019840" cy="381240"/>
          </a:xfrm>
          <a:custGeom>
            <a:avLst/>
            <a:gdLst/>
            <a:ahLst/>
            <a:rect l="0" t="0" r="r" b="b"/>
            <a:pathLst>
              <a:path w="13944" h="1059">
                <a:moveTo>
                  <a:pt x="0" y="0"/>
                </a:moveTo>
                <a:lnTo>
                  <a:pt x="13944" y="0"/>
                </a:lnTo>
                <a:lnTo>
                  <a:pt x="139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618840" y="5057640"/>
            <a:ext cx="2296080" cy="371880"/>
          </a:xfrm>
          <a:custGeom>
            <a:avLst/>
            <a:gdLst/>
            <a:ahLst/>
            <a:rect l="0" t="0" r="r" b="b"/>
            <a:pathLst>
              <a:path w="6378" h="1033">
                <a:moveTo>
                  <a:pt x="0" y="0"/>
                </a:moveTo>
                <a:lnTo>
                  <a:pt x="6378" y="0"/>
                </a:lnTo>
                <a:lnTo>
                  <a:pt x="637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914560" y="5057640"/>
            <a:ext cx="5019840" cy="371880"/>
          </a:xfrm>
          <a:custGeom>
            <a:avLst/>
            <a:gdLst/>
            <a:ahLst/>
            <a:rect l="0" t="0" r="r" b="b"/>
            <a:pathLst>
              <a:path w="13944" h="1033">
                <a:moveTo>
                  <a:pt x="0" y="0"/>
                </a:moveTo>
                <a:lnTo>
                  <a:pt x="13944" y="0"/>
                </a:lnTo>
                <a:lnTo>
                  <a:pt x="139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618840" y="5429160"/>
            <a:ext cx="2296080" cy="381240"/>
          </a:xfrm>
          <a:custGeom>
            <a:avLst/>
            <a:gdLst/>
            <a:ahLst/>
            <a:rect l="0" t="0" r="r" b="b"/>
            <a:pathLst>
              <a:path w="6378" h="1059">
                <a:moveTo>
                  <a:pt x="0" y="0"/>
                </a:moveTo>
                <a:lnTo>
                  <a:pt x="6378" y="0"/>
                </a:lnTo>
                <a:lnTo>
                  <a:pt x="63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2914560" y="5429160"/>
            <a:ext cx="5019840" cy="381240"/>
          </a:xfrm>
          <a:custGeom>
            <a:avLst/>
            <a:gdLst/>
            <a:ahLst/>
            <a:rect l="0" t="0" r="r" b="b"/>
            <a:pathLst>
              <a:path w="13944" h="1059">
                <a:moveTo>
                  <a:pt x="0" y="0"/>
                </a:moveTo>
                <a:lnTo>
                  <a:pt x="13944" y="0"/>
                </a:lnTo>
                <a:lnTo>
                  <a:pt x="139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609480" y="4295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09480" y="4295520"/>
            <a:ext cx="2305440" cy="10080"/>
          </a:xfrm>
          <a:custGeom>
            <a:avLst/>
            <a:gdLst/>
            <a:ahLst/>
            <a:rect l="0" t="0" r="r" b="b"/>
            <a:pathLst>
              <a:path w="6404" h="28">
                <a:moveTo>
                  <a:pt x="0" y="0"/>
                </a:moveTo>
                <a:lnTo>
                  <a:pt x="6404" y="0"/>
                </a:lnTo>
                <a:lnTo>
                  <a:pt x="64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904840" y="4295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914560" y="4295520"/>
            <a:ext cx="5019840" cy="10080"/>
          </a:xfrm>
          <a:custGeom>
            <a:avLst/>
            <a:gdLst/>
            <a:ahLst/>
            <a:rect l="0" t="0" r="r" b="b"/>
            <a:pathLst>
              <a:path w="13944" h="28">
                <a:moveTo>
                  <a:pt x="0" y="0"/>
                </a:moveTo>
                <a:lnTo>
                  <a:pt x="13944" y="0"/>
                </a:lnTo>
                <a:lnTo>
                  <a:pt x="1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7924680" y="4295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609480" y="4676760"/>
            <a:ext cx="2305440" cy="9720"/>
          </a:xfrm>
          <a:custGeom>
            <a:avLst/>
            <a:gdLst/>
            <a:ahLst/>
            <a:rect l="0" t="0" r="r" b="b"/>
            <a:pathLst>
              <a:path w="6404" h="27">
                <a:moveTo>
                  <a:pt x="0" y="0"/>
                </a:moveTo>
                <a:lnTo>
                  <a:pt x="6404" y="0"/>
                </a:lnTo>
                <a:lnTo>
                  <a:pt x="64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914560" y="4676760"/>
            <a:ext cx="5019840" cy="9720"/>
          </a:xfrm>
          <a:custGeom>
            <a:avLst/>
            <a:gdLst/>
            <a:ahLst/>
            <a:rect l="0" t="0" r="r" b="b"/>
            <a:pathLst>
              <a:path w="13944" h="27">
                <a:moveTo>
                  <a:pt x="0" y="0"/>
                </a:moveTo>
                <a:lnTo>
                  <a:pt x="13944" y="0"/>
                </a:lnTo>
                <a:lnTo>
                  <a:pt x="1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094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90484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79246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609480" y="5057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09480" y="5047920"/>
            <a:ext cx="2305440" cy="10080"/>
          </a:xfrm>
          <a:custGeom>
            <a:avLst/>
            <a:gdLst/>
            <a:ahLst/>
            <a:rect l="0" t="0" r="r" b="b"/>
            <a:pathLst>
              <a:path w="6404" h="28">
                <a:moveTo>
                  <a:pt x="0" y="0"/>
                </a:moveTo>
                <a:lnTo>
                  <a:pt x="6404" y="0"/>
                </a:lnTo>
                <a:lnTo>
                  <a:pt x="64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904840" y="5057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914560" y="5047920"/>
            <a:ext cx="5019840" cy="10080"/>
          </a:xfrm>
          <a:custGeom>
            <a:avLst/>
            <a:gdLst/>
            <a:ahLst/>
            <a:rect l="0" t="0" r="r" b="b"/>
            <a:pathLst>
              <a:path w="13944" h="28">
                <a:moveTo>
                  <a:pt x="0" y="0"/>
                </a:moveTo>
                <a:lnTo>
                  <a:pt x="13944" y="0"/>
                </a:lnTo>
                <a:lnTo>
                  <a:pt x="1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7924680" y="5057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609480" y="5438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09480" y="5429160"/>
            <a:ext cx="2305440" cy="9720"/>
          </a:xfrm>
          <a:custGeom>
            <a:avLst/>
            <a:gdLst/>
            <a:ahLst/>
            <a:rect l="0" t="0" r="r" b="b"/>
            <a:pathLst>
              <a:path w="6404" h="27">
                <a:moveTo>
                  <a:pt x="0" y="0"/>
                </a:moveTo>
                <a:lnTo>
                  <a:pt x="6404" y="0"/>
                </a:lnTo>
                <a:lnTo>
                  <a:pt x="64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904840" y="5438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914560" y="5429160"/>
            <a:ext cx="5019840" cy="9720"/>
          </a:xfrm>
          <a:custGeom>
            <a:avLst/>
            <a:gdLst/>
            <a:ahLst/>
            <a:rect l="0" t="0" r="r" b="b"/>
            <a:pathLst>
              <a:path w="13944" h="27">
                <a:moveTo>
                  <a:pt x="0" y="0"/>
                </a:moveTo>
                <a:lnTo>
                  <a:pt x="13944" y="0"/>
                </a:lnTo>
                <a:lnTo>
                  <a:pt x="1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7924680" y="5438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09480" y="5800680"/>
            <a:ext cx="2305440" cy="9720"/>
          </a:xfrm>
          <a:custGeom>
            <a:avLst/>
            <a:gdLst/>
            <a:ahLst/>
            <a:rect l="0" t="0" r="r" b="b"/>
            <a:pathLst>
              <a:path w="6404" h="27">
                <a:moveTo>
                  <a:pt x="0" y="0"/>
                </a:moveTo>
                <a:lnTo>
                  <a:pt x="6404" y="0"/>
                </a:lnTo>
                <a:lnTo>
                  <a:pt x="64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914560" y="5800680"/>
            <a:ext cx="5019840" cy="9720"/>
          </a:xfrm>
          <a:custGeom>
            <a:avLst/>
            <a:gdLst/>
            <a:ahLst/>
            <a:rect l="0" t="0" r="r" b="b"/>
            <a:pathLst>
              <a:path w="13944" h="27">
                <a:moveTo>
                  <a:pt x="0" y="0"/>
                </a:moveTo>
                <a:lnTo>
                  <a:pt x="13944" y="0"/>
                </a:lnTo>
                <a:lnTo>
                  <a:pt x="1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09480" y="987840"/>
            <a:ext cx="54979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K-means : comment ça marche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829440" y="1776240"/>
            <a:ext cx="4653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Initialisation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k centres tirés au hasard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829440" y="2204640"/>
            <a:ext cx="50677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Affectation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chaque département rejoint le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104840" y="2576160"/>
            <a:ext cx="2306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centre le plus proche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829440" y="3014280"/>
            <a:ext cx="4488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Mise à jour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chaque centre devient la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1104840" y="3385800"/>
            <a:ext cx="2679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moyenne de son groupe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6505560" y="18856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0" y="182"/>
                </a:cubicBezTo>
                <a:cubicBezTo>
                  <a:pt x="170" y="192"/>
                  <a:pt x="159" y="199"/>
                  <a:pt x="146" y="205"/>
                </a:cubicBezTo>
                <a:cubicBezTo>
                  <a:pt x="133" y="210"/>
                  <a:pt x="119" y="213"/>
                  <a:pt x="105" y="213"/>
                </a:cubicBezTo>
                <a:cubicBezTo>
                  <a:pt x="91" y="213"/>
                  <a:pt x="78" y="210"/>
                  <a:pt x="65" y="205"/>
                </a:cubicBezTo>
                <a:cubicBezTo>
                  <a:pt x="52" y="199"/>
                  <a:pt x="40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cubicBezTo>
                  <a:pt x="119" y="0"/>
                  <a:pt x="133" y="3"/>
                  <a:pt x="146" y="8"/>
                </a:cubicBezTo>
                <a:cubicBezTo>
                  <a:pt x="159" y="14"/>
                  <a:pt x="170" y="21"/>
                  <a:pt x="180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829440" y="3814560"/>
            <a:ext cx="30164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Itération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jusqu'à stabilité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6724800" y="1776240"/>
            <a:ext cx="4852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Distance euclidienne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(ligne droite) : d'où la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505560" y="26859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0" y="181"/>
                </a:cubicBezTo>
                <a:cubicBezTo>
                  <a:pt x="170" y="191"/>
                  <a:pt x="159" y="199"/>
                  <a:pt x="146" y="204"/>
                </a:cubicBezTo>
                <a:cubicBezTo>
                  <a:pt x="133" y="210"/>
                  <a:pt x="119" y="212"/>
                  <a:pt x="105" y="212"/>
                </a:cubicBezTo>
                <a:cubicBezTo>
                  <a:pt x="91" y="212"/>
                  <a:pt x="78" y="210"/>
                  <a:pt x="65" y="204"/>
                </a:cubicBezTo>
                <a:cubicBezTo>
                  <a:pt x="52" y="199"/>
                  <a:pt x="40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cubicBezTo>
                  <a:pt x="119" y="0"/>
                  <a:pt x="133" y="2"/>
                  <a:pt x="146" y="8"/>
                </a:cubicBezTo>
                <a:cubicBezTo>
                  <a:pt x="159" y="13"/>
                  <a:pt x="170" y="21"/>
                  <a:pt x="180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724800" y="2147760"/>
            <a:ext cx="1685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standardisation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724800" y="2576160"/>
            <a:ext cx="4417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Inertie (WCSS)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somme des distances²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6724800" y="2947680"/>
            <a:ext cx="44121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aux centres. Faible = groupes compacts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743040" y="4390920"/>
            <a:ext cx="49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Limite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040200" y="4390920"/>
            <a:ext cx="1835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Ce que nous avons fait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743040" y="4772160"/>
            <a:ext cx="1449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Choisir k à l'avance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3040200" y="4772160"/>
            <a:ext cx="2987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Coude + silhouette, puis dendrogramme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43040" y="5143320"/>
            <a:ext cx="2032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Dépend du départ aléatoire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3040200" y="5143320"/>
            <a:ext cx="4743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 lancements, graine fixe, stabilité testée sur 10 autres graines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743040" y="5524560"/>
            <a:ext cx="1575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Groupes « arrondis »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3040200" y="5524560"/>
            <a:ext cx="3196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Standardisation, DBSCAN en comparaison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609480" y="1438200"/>
            <a:ext cx="9525240" cy="3238920"/>
          </a:xfrm>
          <a:custGeom>
            <a:avLst/>
            <a:gdLst/>
            <a:ahLst/>
            <a:rect l="0" t="0" r="r" b="b"/>
            <a:pathLst>
              <a:path w="26459" h="8997">
                <a:moveTo>
                  <a:pt x="0" y="0"/>
                </a:moveTo>
                <a:lnTo>
                  <a:pt x="26459" y="0"/>
                </a:lnTo>
                <a:lnTo>
                  <a:pt x="26459" y="8997"/>
                </a:lnTo>
                <a:lnTo>
                  <a:pt x="0" y="89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7" name=""/>
          <p:cNvPicPr/>
          <p:nvPr/>
        </p:nvPicPr>
        <p:blipFill>
          <a:blip r:embed="rId1"/>
          <a:stretch/>
        </p:blipFill>
        <p:spPr>
          <a:xfrm>
            <a:off x="609480" y="1438200"/>
            <a:ext cx="9524520" cy="323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8" name=""/>
          <p:cNvSpPr/>
          <p:nvPr/>
        </p:nvSpPr>
        <p:spPr>
          <a:xfrm>
            <a:off x="885600" y="5086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609480" y="692640"/>
            <a:ext cx="7583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Combien de groupes ? Coude et silhouette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885600" y="5514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104840" y="4976640"/>
            <a:ext cx="4999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Inertie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baisse toujours, on cherche le coude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104840" y="5405040"/>
            <a:ext cx="9658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Silhouette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(−1 à 1) : proche de 1, le département est bien placé ; négatif, il serait mieux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104840" y="5776560"/>
            <a:ext cx="787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ailleurs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618840" y="1942920"/>
            <a:ext cx="343440" cy="381240"/>
          </a:xfrm>
          <a:custGeom>
            <a:avLst/>
            <a:gdLst/>
            <a:ahLst/>
            <a:rect l="0" t="0" r="r" b="b"/>
            <a:pathLst>
              <a:path w="954" h="1059">
                <a:moveTo>
                  <a:pt x="0" y="0"/>
                </a:moveTo>
                <a:lnTo>
                  <a:pt x="954" y="0"/>
                </a:lnTo>
                <a:lnTo>
                  <a:pt x="95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961920" y="194292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723680" y="1942920"/>
            <a:ext cx="800640" cy="381240"/>
          </a:xfrm>
          <a:custGeom>
            <a:avLst/>
            <a:gdLst/>
            <a:ahLst/>
            <a:rect l="0" t="0" r="r" b="b"/>
            <a:pathLst>
              <a:path w="2224" h="1059">
                <a:moveTo>
                  <a:pt x="0" y="0"/>
                </a:moveTo>
                <a:lnTo>
                  <a:pt x="2224" y="0"/>
                </a:lnTo>
                <a:lnTo>
                  <a:pt x="222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2523960" y="1942920"/>
            <a:ext cx="1076760" cy="381240"/>
          </a:xfrm>
          <a:custGeom>
            <a:avLst/>
            <a:gdLst/>
            <a:ahLst/>
            <a:rect l="0" t="0" r="r" b="b"/>
            <a:pathLst>
              <a:path w="2991" h="1059">
                <a:moveTo>
                  <a:pt x="0" y="0"/>
                </a:moveTo>
                <a:lnTo>
                  <a:pt x="2991" y="0"/>
                </a:lnTo>
                <a:lnTo>
                  <a:pt x="29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3600360" y="1942920"/>
            <a:ext cx="1629000" cy="381240"/>
          </a:xfrm>
          <a:custGeom>
            <a:avLst/>
            <a:gdLst/>
            <a:ahLst/>
            <a:rect l="0" t="0" r="r" b="b"/>
            <a:pathLst>
              <a:path w="4525" h="1059">
                <a:moveTo>
                  <a:pt x="0" y="0"/>
                </a:moveTo>
                <a:lnTo>
                  <a:pt x="4525" y="0"/>
                </a:lnTo>
                <a:lnTo>
                  <a:pt x="452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18840" y="1942920"/>
            <a:ext cx="343440" cy="381240"/>
          </a:xfrm>
          <a:custGeom>
            <a:avLst/>
            <a:gdLst/>
            <a:ahLst/>
            <a:rect l="0" t="0" r="r" b="b"/>
            <a:pathLst>
              <a:path w="954" h="1059">
                <a:moveTo>
                  <a:pt x="0" y="0"/>
                </a:moveTo>
                <a:lnTo>
                  <a:pt x="954" y="0"/>
                </a:lnTo>
                <a:lnTo>
                  <a:pt x="95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961920" y="194292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723680" y="1942920"/>
            <a:ext cx="800640" cy="381240"/>
          </a:xfrm>
          <a:custGeom>
            <a:avLst/>
            <a:gdLst/>
            <a:ahLst/>
            <a:rect l="0" t="0" r="r" b="b"/>
            <a:pathLst>
              <a:path w="2224" h="1059">
                <a:moveTo>
                  <a:pt x="0" y="0"/>
                </a:moveTo>
                <a:lnTo>
                  <a:pt x="2224" y="0"/>
                </a:lnTo>
                <a:lnTo>
                  <a:pt x="222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2523960" y="1942920"/>
            <a:ext cx="1076760" cy="381240"/>
          </a:xfrm>
          <a:custGeom>
            <a:avLst/>
            <a:gdLst/>
            <a:ahLst/>
            <a:rect l="0" t="0" r="r" b="b"/>
            <a:pathLst>
              <a:path w="2991" h="1059">
                <a:moveTo>
                  <a:pt x="0" y="0"/>
                </a:moveTo>
                <a:lnTo>
                  <a:pt x="2991" y="0"/>
                </a:lnTo>
                <a:lnTo>
                  <a:pt x="29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3600360" y="1942920"/>
            <a:ext cx="1629000" cy="381240"/>
          </a:xfrm>
          <a:custGeom>
            <a:avLst/>
            <a:gdLst/>
            <a:ahLst/>
            <a:rect l="0" t="0" r="r" b="b"/>
            <a:pathLst>
              <a:path w="4525" h="1059">
                <a:moveTo>
                  <a:pt x="0" y="0"/>
                </a:moveTo>
                <a:lnTo>
                  <a:pt x="4525" y="0"/>
                </a:lnTo>
                <a:lnTo>
                  <a:pt x="452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618840" y="2323800"/>
            <a:ext cx="343440" cy="371880"/>
          </a:xfrm>
          <a:custGeom>
            <a:avLst/>
            <a:gdLst/>
            <a:ahLst/>
            <a:rect l="0" t="0" r="r" b="b"/>
            <a:pathLst>
              <a:path w="954" h="1033">
                <a:moveTo>
                  <a:pt x="0" y="0"/>
                </a:moveTo>
                <a:lnTo>
                  <a:pt x="954" y="0"/>
                </a:lnTo>
                <a:lnTo>
                  <a:pt x="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961920" y="232380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723680" y="2323800"/>
            <a:ext cx="800640" cy="371880"/>
          </a:xfrm>
          <a:custGeom>
            <a:avLst/>
            <a:gdLst/>
            <a:ahLst/>
            <a:rect l="0" t="0" r="r" b="b"/>
            <a:pathLst>
              <a:path w="2224" h="1033">
                <a:moveTo>
                  <a:pt x="0" y="0"/>
                </a:moveTo>
                <a:lnTo>
                  <a:pt x="2224" y="0"/>
                </a:lnTo>
                <a:lnTo>
                  <a:pt x="222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2523960" y="232380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600360" y="2323800"/>
            <a:ext cx="1629000" cy="371880"/>
          </a:xfrm>
          <a:custGeom>
            <a:avLst/>
            <a:gdLst/>
            <a:ahLst/>
            <a:rect l="0" t="0" r="r" b="b"/>
            <a:pathLst>
              <a:path w="4525" h="1033">
                <a:moveTo>
                  <a:pt x="0" y="0"/>
                </a:moveTo>
                <a:lnTo>
                  <a:pt x="4525" y="0"/>
                </a:lnTo>
                <a:lnTo>
                  <a:pt x="45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618840" y="2695320"/>
            <a:ext cx="343440" cy="381600"/>
          </a:xfrm>
          <a:custGeom>
            <a:avLst/>
            <a:gdLst/>
            <a:ahLst/>
            <a:rect l="0" t="0" r="r" b="b"/>
            <a:pathLst>
              <a:path w="954" h="1060">
                <a:moveTo>
                  <a:pt x="0" y="0"/>
                </a:moveTo>
                <a:lnTo>
                  <a:pt x="954" y="0"/>
                </a:lnTo>
                <a:lnTo>
                  <a:pt x="95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961920" y="2695320"/>
            <a:ext cx="762120" cy="381600"/>
          </a:xfrm>
          <a:custGeom>
            <a:avLst/>
            <a:gdLst/>
            <a:ahLst/>
            <a:rect l="0" t="0" r="r" b="b"/>
            <a:pathLst>
              <a:path w="2117" h="1060">
                <a:moveTo>
                  <a:pt x="0" y="0"/>
                </a:moveTo>
                <a:lnTo>
                  <a:pt x="2117" y="0"/>
                </a:lnTo>
                <a:lnTo>
                  <a:pt x="211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723680" y="2695320"/>
            <a:ext cx="800640" cy="381600"/>
          </a:xfrm>
          <a:custGeom>
            <a:avLst/>
            <a:gdLst/>
            <a:ahLst/>
            <a:rect l="0" t="0" r="r" b="b"/>
            <a:pathLst>
              <a:path w="2224" h="1060">
                <a:moveTo>
                  <a:pt x="0" y="0"/>
                </a:moveTo>
                <a:lnTo>
                  <a:pt x="2224" y="0"/>
                </a:lnTo>
                <a:lnTo>
                  <a:pt x="222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523960" y="2695320"/>
            <a:ext cx="1076760" cy="381600"/>
          </a:xfrm>
          <a:custGeom>
            <a:avLst/>
            <a:gdLst/>
            <a:ahLst/>
            <a:rect l="0" t="0" r="r" b="b"/>
            <a:pathLst>
              <a:path w="2991" h="1060">
                <a:moveTo>
                  <a:pt x="0" y="0"/>
                </a:moveTo>
                <a:lnTo>
                  <a:pt x="2991" y="0"/>
                </a:lnTo>
                <a:lnTo>
                  <a:pt x="299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600360" y="2695320"/>
            <a:ext cx="1629000" cy="381600"/>
          </a:xfrm>
          <a:custGeom>
            <a:avLst/>
            <a:gdLst/>
            <a:ahLst/>
            <a:rect l="0" t="0" r="r" b="b"/>
            <a:pathLst>
              <a:path w="4525" h="1060">
                <a:moveTo>
                  <a:pt x="0" y="0"/>
                </a:moveTo>
                <a:lnTo>
                  <a:pt x="4525" y="0"/>
                </a:lnTo>
                <a:lnTo>
                  <a:pt x="452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618840" y="3076560"/>
            <a:ext cx="343440" cy="381240"/>
          </a:xfrm>
          <a:custGeom>
            <a:avLst/>
            <a:gdLst/>
            <a:ahLst/>
            <a:rect l="0" t="0" r="r" b="b"/>
            <a:pathLst>
              <a:path w="954" h="1059">
                <a:moveTo>
                  <a:pt x="0" y="0"/>
                </a:moveTo>
                <a:lnTo>
                  <a:pt x="954" y="0"/>
                </a:lnTo>
                <a:lnTo>
                  <a:pt x="95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961920" y="307656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1723680" y="3076560"/>
            <a:ext cx="800640" cy="381240"/>
          </a:xfrm>
          <a:custGeom>
            <a:avLst/>
            <a:gdLst/>
            <a:ahLst/>
            <a:rect l="0" t="0" r="r" b="b"/>
            <a:pathLst>
              <a:path w="2224" h="1059">
                <a:moveTo>
                  <a:pt x="0" y="0"/>
                </a:moveTo>
                <a:lnTo>
                  <a:pt x="2224" y="0"/>
                </a:lnTo>
                <a:lnTo>
                  <a:pt x="222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523960" y="3076560"/>
            <a:ext cx="1076760" cy="381240"/>
          </a:xfrm>
          <a:custGeom>
            <a:avLst/>
            <a:gdLst/>
            <a:ahLst/>
            <a:rect l="0" t="0" r="r" b="b"/>
            <a:pathLst>
              <a:path w="2991" h="1059">
                <a:moveTo>
                  <a:pt x="0" y="0"/>
                </a:moveTo>
                <a:lnTo>
                  <a:pt x="2991" y="0"/>
                </a:lnTo>
                <a:lnTo>
                  <a:pt x="29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3600360" y="3076560"/>
            <a:ext cx="1629000" cy="381240"/>
          </a:xfrm>
          <a:custGeom>
            <a:avLst/>
            <a:gdLst/>
            <a:ahLst/>
            <a:rect l="0" t="0" r="r" b="b"/>
            <a:pathLst>
              <a:path w="4525" h="1059">
                <a:moveTo>
                  <a:pt x="0" y="0"/>
                </a:moveTo>
                <a:lnTo>
                  <a:pt x="4525" y="0"/>
                </a:lnTo>
                <a:lnTo>
                  <a:pt x="452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618840" y="3457440"/>
            <a:ext cx="343440" cy="371880"/>
          </a:xfrm>
          <a:custGeom>
            <a:avLst/>
            <a:gdLst/>
            <a:ahLst/>
            <a:rect l="0" t="0" r="r" b="b"/>
            <a:pathLst>
              <a:path w="954" h="1033">
                <a:moveTo>
                  <a:pt x="0" y="0"/>
                </a:moveTo>
                <a:lnTo>
                  <a:pt x="954" y="0"/>
                </a:lnTo>
                <a:lnTo>
                  <a:pt x="95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961920" y="3457440"/>
            <a:ext cx="762120" cy="371880"/>
          </a:xfrm>
          <a:custGeom>
            <a:avLst/>
            <a:gdLst/>
            <a:ahLst/>
            <a:rect l="0" t="0" r="r" b="b"/>
            <a:pathLst>
              <a:path w="2117" h="1033">
                <a:moveTo>
                  <a:pt x="0" y="0"/>
                </a:moveTo>
                <a:lnTo>
                  <a:pt x="2117" y="0"/>
                </a:lnTo>
                <a:lnTo>
                  <a:pt x="21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1723680" y="3457440"/>
            <a:ext cx="800640" cy="371880"/>
          </a:xfrm>
          <a:custGeom>
            <a:avLst/>
            <a:gdLst/>
            <a:ahLst/>
            <a:rect l="0" t="0" r="r" b="b"/>
            <a:pathLst>
              <a:path w="2224" h="1033">
                <a:moveTo>
                  <a:pt x="0" y="0"/>
                </a:moveTo>
                <a:lnTo>
                  <a:pt x="2224" y="0"/>
                </a:lnTo>
                <a:lnTo>
                  <a:pt x="222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2523960" y="345744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3600360" y="3457440"/>
            <a:ext cx="1629000" cy="371880"/>
          </a:xfrm>
          <a:custGeom>
            <a:avLst/>
            <a:gdLst/>
            <a:ahLst/>
            <a:rect l="0" t="0" r="r" b="b"/>
            <a:pathLst>
              <a:path w="4525" h="1033">
                <a:moveTo>
                  <a:pt x="0" y="0"/>
                </a:moveTo>
                <a:lnTo>
                  <a:pt x="4525" y="0"/>
                </a:lnTo>
                <a:lnTo>
                  <a:pt x="452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618840" y="3828960"/>
            <a:ext cx="343440" cy="381240"/>
          </a:xfrm>
          <a:custGeom>
            <a:avLst/>
            <a:gdLst/>
            <a:ahLst/>
            <a:rect l="0" t="0" r="r" b="b"/>
            <a:pathLst>
              <a:path w="954" h="1059">
                <a:moveTo>
                  <a:pt x="0" y="0"/>
                </a:moveTo>
                <a:lnTo>
                  <a:pt x="954" y="0"/>
                </a:lnTo>
                <a:lnTo>
                  <a:pt x="95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961920" y="3828960"/>
            <a:ext cx="762120" cy="381240"/>
          </a:xfrm>
          <a:custGeom>
            <a:avLst/>
            <a:gdLst/>
            <a:ahLst/>
            <a:rect l="0" t="0" r="r" b="b"/>
            <a:pathLst>
              <a:path w="2117" h="1059">
                <a:moveTo>
                  <a:pt x="0" y="0"/>
                </a:moveTo>
                <a:lnTo>
                  <a:pt x="2117" y="0"/>
                </a:lnTo>
                <a:lnTo>
                  <a:pt x="21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1723680" y="3828960"/>
            <a:ext cx="800640" cy="381240"/>
          </a:xfrm>
          <a:custGeom>
            <a:avLst/>
            <a:gdLst/>
            <a:ahLst/>
            <a:rect l="0" t="0" r="r" b="b"/>
            <a:pathLst>
              <a:path w="2224" h="1059">
                <a:moveTo>
                  <a:pt x="0" y="0"/>
                </a:moveTo>
                <a:lnTo>
                  <a:pt x="2224" y="0"/>
                </a:lnTo>
                <a:lnTo>
                  <a:pt x="222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523960" y="3828960"/>
            <a:ext cx="1076760" cy="381240"/>
          </a:xfrm>
          <a:custGeom>
            <a:avLst/>
            <a:gdLst/>
            <a:ahLst/>
            <a:rect l="0" t="0" r="r" b="b"/>
            <a:pathLst>
              <a:path w="2991" h="1059">
                <a:moveTo>
                  <a:pt x="0" y="0"/>
                </a:moveTo>
                <a:lnTo>
                  <a:pt x="2991" y="0"/>
                </a:lnTo>
                <a:lnTo>
                  <a:pt x="29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3600360" y="3828960"/>
            <a:ext cx="1629000" cy="381240"/>
          </a:xfrm>
          <a:custGeom>
            <a:avLst/>
            <a:gdLst/>
            <a:ahLst/>
            <a:rect l="0" t="0" r="r" b="b"/>
            <a:pathLst>
              <a:path w="4525" h="1059">
                <a:moveTo>
                  <a:pt x="0" y="0"/>
                </a:moveTo>
                <a:lnTo>
                  <a:pt x="4525" y="0"/>
                </a:lnTo>
                <a:lnTo>
                  <a:pt x="452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609480" y="19429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609480" y="1942920"/>
            <a:ext cx="362160" cy="9720"/>
          </a:xfrm>
          <a:custGeom>
            <a:avLst/>
            <a:gdLst/>
            <a:ahLst/>
            <a:rect l="0" t="0" r="r" b="b"/>
            <a:pathLst>
              <a:path w="1006" h="27">
                <a:moveTo>
                  <a:pt x="0" y="0"/>
                </a:moveTo>
                <a:lnTo>
                  <a:pt x="1006" y="0"/>
                </a:lnTo>
                <a:lnTo>
                  <a:pt x="10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961920" y="19429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971280" y="194292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723680" y="19429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733400" y="194292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523960" y="19429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2533320" y="1942920"/>
            <a:ext cx="1067400" cy="9720"/>
          </a:xfrm>
          <a:custGeom>
            <a:avLst/>
            <a:gdLst/>
            <a:ahLst/>
            <a:rect l="0" t="0" r="r" b="b"/>
            <a:pathLst>
              <a:path w="2965" h="27">
                <a:moveTo>
                  <a:pt x="0" y="0"/>
                </a:moveTo>
                <a:lnTo>
                  <a:pt x="2965" y="0"/>
                </a:lnTo>
                <a:lnTo>
                  <a:pt x="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3590640" y="19429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3600360" y="194292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5229000" y="19429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609480" y="2314440"/>
            <a:ext cx="362160" cy="9720"/>
          </a:xfrm>
          <a:custGeom>
            <a:avLst/>
            <a:gdLst/>
            <a:ahLst/>
            <a:rect l="0" t="0" r="r" b="b"/>
            <a:pathLst>
              <a:path w="1006" h="27">
                <a:moveTo>
                  <a:pt x="0" y="0"/>
                </a:moveTo>
                <a:lnTo>
                  <a:pt x="1006" y="0"/>
                </a:lnTo>
                <a:lnTo>
                  <a:pt x="10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971280" y="231444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1733400" y="231444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2533320" y="2314440"/>
            <a:ext cx="1067400" cy="9720"/>
          </a:xfrm>
          <a:custGeom>
            <a:avLst/>
            <a:gdLst/>
            <a:ahLst/>
            <a:rect l="0" t="0" r="r" b="b"/>
            <a:pathLst>
              <a:path w="2965" h="27">
                <a:moveTo>
                  <a:pt x="0" y="0"/>
                </a:moveTo>
                <a:lnTo>
                  <a:pt x="2965" y="0"/>
                </a:lnTo>
                <a:lnTo>
                  <a:pt x="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3600360" y="231444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609480" y="23238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961920" y="23238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723680" y="23238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2523960" y="23238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3590640" y="23238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5229000" y="23238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09480" y="2705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09480" y="2695320"/>
            <a:ext cx="362160" cy="10080"/>
          </a:xfrm>
          <a:custGeom>
            <a:avLst/>
            <a:gdLst/>
            <a:ahLst/>
            <a:rect l="0" t="0" r="r" b="b"/>
            <a:pathLst>
              <a:path w="1006" h="28">
                <a:moveTo>
                  <a:pt x="0" y="0"/>
                </a:moveTo>
                <a:lnTo>
                  <a:pt x="1006" y="0"/>
                </a:lnTo>
                <a:lnTo>
                  <a:pt x="10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961920" y="2705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971280" y="269532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723680" y="2705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733400" y="269532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523960" y="2705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533320" y="2695320"/>
            <a:ext cx="1067400" cy="10080"/>
          </a:xfrm>
          <a:custGeom>
            <a:avLst/>
            <a:gdLst/>
            <a:ahLst/>
            <a:rect l="0" t="0" r="r" b="b"/>
            <a:pathLst>
              <a:path w="2965" h="28">
                <a:moveTo>
                  <a:pt x="0" y="0"/>
                </a:moveTo>
                <a:lnTo>
                  <a:pt x="2965" y="0"/>
                </a:lnTo>
                <a:lnTo>
                  <a:pt x="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3590640" y="2705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3600360" y="269532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5229000" y="2705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09480" y="3076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09480" y="3066840"/>
            <a:ext cx="362160" cy="10080"/>
          </a:xfrm>
          <a:custGeom>
            <a:avLst/>
            <a:gdLst/>
            <a:ahLst/>
            <a:rect l="0" t="0" r="r" b="b"/>
            <a:pathLst>
              <a:path w="1006" h="28">
                <a:moveTo>
                  <a:pt x="0" y="0"/>
                </a:moveTo>
                <a:lnTo>
                  <a:pt x="1006" y="0"/>
                </a:lnTo>
                <a:lnTo>
                  <a:pt x="10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961920" y="3076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971280" y="306684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1723680" y="30765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733400" y="306684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2523960" y="3076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2533320" y="3066840"/>
            <a:ext cx="1067400" cy="10080"/>
          </a:xfrm>
          <a:custGeom>
            <a:avLst/>
            <a:gdLst/>
            <a:ahLst/>
            <a:rect l="0" t="0" r="r" b="b"/>
            <a:pathLst>
              <a:path w="2965" h="28">
                <a:moveTo>
                  <a:pt x="0" y="0"/>
                </a:moveTo>
                <a:lnTo>
                  <a:pt x="2965" y="0"/>
                </a:lnTo>
                <a:lnTo>
                  <a:pt x="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3590640" y="30765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3600360" y="306684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5229000" y="30765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09480" y="3457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609480" y="3447720"/>
            <a:ext cx="362160" cy="10080"/>
          </a:xfrm>
          <a:custGeom>
            <a:avLst/>
            <a:gdLst/>
            <a:ahLst/>
            <a:rect l="0" t="0" r="r" b="b"/>
            <a:pathLst>
              <a:path w="1006" h="28">
                <a:moveTo>
                  <a:pt x="0" y="0"/>
                </a:moveTo>
                <a:lnTo>
                  <a:pt x="1006" y="0"/>
                </a:lnTo>
                <a:lnTo>
                  <a:pt x="10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961920" y="3457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971280" y="344772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1723680" y="34574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1733400" y="344772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2523960" y="3457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2533320" y="3447720"/>
            <a:ext cx="1067400" cy="10080"/>
          </a:xfrm>
          <a:custGeom>
            <a:avLst/>
            <a:gdLst/>
            <a:ahLst/>
            <a:rect l="0" t="0" r="r" b="b"/>
            <a:pathLst>
              <a:path w="2965" h="28">
                <a:moveTo>
                  <a:pt x="0" y="0"/>
                </a:moveTo>
                <a:lnTo>
                  <a:pt x="2965" y="0"/>
                </a:lnTo>
                <a:lnTo>
                  <a:pt x="29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3590640" y="34574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3600360" y="344772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5229000" y="34574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09480" y="3838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609480" y="3828960"/>
            <a:ext cx="362160" cy="9720"/>
          </a:xfrm>
          <a:custGeom>
            <a:avLst/>
            <a:gdLst/>
            <a:ahLst/>
            <a:rect l="0" t="0" r="r" b="b"/>
            <a:pathLst>
              <a:path w="1006" h="27">
                <a:moveTo>
                  <a:pt x="0" y="0"/>
                </a:moveTo>
                <a:lnTo>
                  <a:pt x="1006" y="0"/>
                </a:lnTo>
                <a:lnTo>
                  <a:pt x="10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961920" y="3838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971280" y="382896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1723680" y="38383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1733400" y="382896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523960" y="3838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2533320" y="3828960"/>
            <a:ext cx="1067400" cy="9720"/>
          </a:xfrm>
          <a:custGeom>
            <a:avLst/>
            <a:gdLst/>
            <a:ahLst/>
            <a:rect l="0" t="0" r="r" b="b"/>
            <a:pathLst>
              <a:path w="2965" h="27">
                <a:moveTo>
                  <a:pt x="0" y="0"/>
                </a:moveTo>
                <a:lnTo>
                  <a:pt x="2965" y="0"/>
                </a:lnTo>
                <a:lnTo>
                  <a:pt x="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3590640" y="38383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3600360" y="382896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5229000" y="38383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609480" y="4200480"/>
            <a:ext cx="362160" cy="9720"/>
          </a:xfrm>
          <a:custGeom>
            <a:avLst/>
            <a:gdLst/>
            <a:ahLst/>
            <a:rect l="0" t="0" r="r" b="b"/>
            <a:pathLst>
              <a:path w="1006" h="27">
                <a:moveTo>
                  <a:pt x="0" y="0"/>
                </a:moveTo>
                <a:lnTo>
                  <a:pt x="1006" y="0"/>
                </a:lnTo>
                <a:lnTo>
                  <a:pt x="10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971280" y="420048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733400" y="420048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2533320" y="4200480"/>
            <a:ext cx="1067400" cy="9720"/>
          </a:xfrm>
          <a:custGeom>
            <a:avLst/>
            <a:gdLst/>
            <a:ahLst/>
            <a:rect l="0" t="0" r="r" b="b"/>
            <a:pathLst>
              <a:path w="2965" h="27">
                <a:moveTo>
                  <a:pt x="0" y="0"/>
                </a:moveTo>
                <a:lnTo>
                  <a:pt x="2965" y="0"/>
                </a:lnTo>
                <a:lnTo>
                  <a:pt x="29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3600360" y="420048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609480" y="1197360"/>
            <a:ext cx="27183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Décision : k = 4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743040" y="203832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094040" y="2038320"/>
            <a:ext cx="503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Inertie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856160" y="2038320"/>
            <a:ext cx="541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Baisse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656440" y="2038320"/>
            <a:ext cx="811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Silhouette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727080" y="2038320"/>
            <a:ext cx="1369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Plus petit groupe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743040" y="240984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318320" y="24098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364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2230920" y="2409840"/>
            <a:ext cx="168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—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3048840" y="240984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0,358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4914720" y="240984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743040" y="279072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1318320" y="279072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290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1917360" y="2790720"/>
            <a:ext cx="480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−20 %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3048840" y="27907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0,292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4914720" y="279072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43040" y="316224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1318320" y="31622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239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917360" y="3162240"/>
            <a:ext cx="480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−18 %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3048840" y="316224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0,315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5008320" y="316224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743040" y="354312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330560" y="354312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1917360" y="3543120"/>
            <a:ext cx="480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−12 %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3048840" y="35431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0,250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4914720" y="354312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743040" y="392436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1318320" y="39243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185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1917360" y="3924360"/>
            <a:ext cx="480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−12 %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3048840" y="392436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0,241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885600" y="45147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5008320" y="392436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885600" y="4952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1104840" y="4404960"/>
            <a:ext cx="3908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Coude à 4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et pic local de silhouette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885600" y="5381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104840" y="4843080"/>
            <a:ext cx="9195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k = 2 : meilleure silhouette mais trop grossier (grandes villes + Méditerranée / reste)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1104840" y="5271840"/>
            <a:ext cx="7787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k ≥ 6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un groupe réduit à la Guadeloupe, un cas extrême, pas un profil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618840" y="4143240"/>
            <a:ext cx="2381760" cy="371880"/>
          </a:xfrm>
          <a:custGeom>
            <a:avLst/>
            <a:gdLst/>
            <a:ahLst/>
            <a:rect l="0" t="0" r="r" b="b"/>
            <a:pathLst>
              <a:path w="6616" h="1033">
                <a:moveTo>
                  <a:pt x="0" y="0"/>
                </a:moveTo>
                <a:lnTo>
                  <a:pt x="6616" y="0"/>
                </a:lnTo>
                <a:lnTo>
                  <a:pt x="66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3000240" y="4143240"/>
            <a:ext cx="628920" cy="371880"/>
          </a:xfrm>
          <a:custGeom>
            <a:avLst/>
            <a:gdLst/>
            <a:ahLst/>
            <a:rect l="0" t="0" r="r" b="b"/>
            <a:pathLst>
              <a:path w="1747" h="1033">
                <a:moveTo>
                  <a:pt x="0" y="0"/>
                </a:moveTo>
                <a:lnTo>
                  <a:pt x="1747" y="0"/>
                </a:lnTo>
                <a:lnTo>
                  <a:pt x="17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3628800" y="41432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4276440" y="414324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5124240" y="4143240"/>
            <a:ext cx="667080" cy="371880"/>
          </a:xfrm>
          <a:custGeom>
            <a:avLst/>
            <a:gdLst/>
            <a:ahLst/>
            <a:rect l="0" t="0" r="r" b="b"/>
            <a:pathLst>
              <a:path w="1853" h="1033">
                <a:moveTo>
                  <a:pt x="0" y="0"/>
                </a:moveTo>
                <a:lnTo>
                  <a:pt x="1853" y="0"/>
                </a:lnTo>
                <a:lnTo>
                  <a:pt x="18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5790960" y="4143240"/>
            <a:ext cx="972000" cy="371880"/>
          </a:xfrm>
          <a:custGeom>
            <a:avLst/>
            <a:gdLst/>
            <a:ahLst/>
            <a:rect l="0" t="0" r="r" b="b"/>
            <a:pathLst>
              <a:path w="2700" h="1033">
                <a:moveTo>
                  <a:pt x="0" y="0"/>
                </a:moveTo>
                <a:lnTo>
                  <a:pt x="2700" y="0"/>
                </a:lnTo>
                <a:lnTo>
                  <a:pt x="27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6762600" y="414324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7486560" y="41432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618840" y="4143240"/>
            <a:ext cx="2381760" cy="371880"/>
          </a:xfrm>
          <a:custGeom>
            <a:avLst/>
            <a:gdLst/>
            <a:ahLst/>
            <a:rect l="0" t="0" r="r" b="b"/>
            <a:pathLst>
              <a:path w="6616" h="1033">
                <a:moveTo>
                  <a:pt x="0" y="0"/>
                </a:moveTo>
                <a:lnTo>
                  <a:pt x="6616" y="0"/>
                </a:lnTo>
                <a:lnTo>
                  <a:pt x="66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3000240" y="4143240"/>
            <a:ext cx="628920" cy="371880"/>
          </a:xfrm>
          <a:custGeom>
            <a:avLst/>
            <a:gdLst/>
            <a:ahLst/>
            <a:rect l="0" t="0" r="r" b="b"/>
            <a:pathLst>
              <a:path w="1747" h="1033">
                <a:moveTo>
                  <a:pt x="0" y="0"/>
                </a:moveTo>
                <a:lnTo>
                  <a:pt x="1747" y="0"/>
                </a:lnTo>
                <a:lnTo>
                  <a:pt x="17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3628800" y="41432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4276440" y="414324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5124240" y="4143240"/>
            <a:ext cx="667080" cy="371880"/>
          </a:xfrm>
          <a:custGeom>
            <a:avLst/>
            <a:gdLst/>
            <a:ahLst/>
            <a:rect l="0" t="0" r="r" b="b"/>
            <a:pathLst>
              <a:path w="1853" h="1033">
                <a:moveTo>
                  <a:pt x="0" y="0"/>
                </a:moveTo>
                <a:lnTo>
                  <a:pt x="1853" y="0"/>
                </a:lnTo>
                <a:lnTo>
                  <a:pt x="18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5790960" y="4143240"/>
            <a:ext cx="972000" cy="371880"/>
          </a:xfrm>
          <a:custGeom>
            <a:avLst/>
            <a:gdLst/>
            <a:ahLst/>
            <a:rect l="0" t="0" r="r" b="b"/>
            <a:pathLst>
              <a:path w="2700" h="1033">
                <a:moveTo>
                  <a:pt x="0" y="0"/>
                </a:moveTo>
                <a:lnTo>
                  <a:pt x="2700" y="0"/>
                </a:lnTo>
                <a:lnTo>
                  <a:pt x="27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6762600" y="414324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7486560" y="41432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618840" y="4514760"/>
            <a:ext cx="2381760" cy="381240"/>
          </a:xfrm>
          <a:custGeom>
            <a:avLst/>
            <a:gdLst/>
            <a:ahLst/>
            <a:rect l="0" t="0" r="r" b="b"/>
            <a:pathLst>
              <a:path w="6616" h="1059">
                <a:moveTo>
                  <a:pt x="0" y="0"/>
                </a:moveTo>
                <a:lnTo>
                  <a:pt x="6616" y="0"/>
                </a:lnTo>
                <a:lnTo>
                  <a:pt x="661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3000240" y="4514760"/>
            <a:ext cx="628920" cy="381240"/>
          </a:xfrm>
          <a:custGeom>
            <a:avLst/>
            <a:gdLst/>
            <a:ahLst/>
            <a:rect l="0" t="0" r="r" b="b"/>
            <a:pathLst>
              <a:path w="1747" h="1059">
                <a:moveTo>
                  <a:pt x="0" y="0"/>
                </a:moveTo>
                <a:lnTo>
                  <a:pt x="1747" y="0"/>
                </a:lnTo>
                <a:lnTo>
                  <a:pt x="17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3628800" y="4514760"/>
            <a:ext cx="648000" cy="381240"/>
          </a:xfrm>
          <a:custGeom>
            <a:avLst/>
            <a:gdLst/>
            <a:ahLst/>
            <a:rect l="0" t="0" r="r" b="b"/>
            <a:pathLst>
              <a:path w="1800" h="1059">
                <a:moveTo>
                  <a:pt x="0" y="0"/>
                </a:moveTo>
                <a:lnTo>
                  <a:pt x="1800" y="0"/>
                </a:lnTo>
                <a:lnTo>
                  <a:pt x="180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4276440" y="4514760"/>
            <a:ext cx="848160" cy="381240"/>
          </a:xfrm>
          <a:custGeom>
            <a:avLst/>
            <a:gdLst/>
            <a:ahLst/>
            <a:rect l="0" t="0" r="r" b="b"/>
            <a:pathLst>
              <a:path w="2356" h="1059">
                <a:moveTo>
                  <a:pt x="0" y="0"/>
                </a:moveTo>
                <a:lnTo>
                  <a:pt x="2356" y="0"/>
                </a:lnTo>
                <a:lnTo>
                  <a:pt x="235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5124240" y="4514760"/>
            <a:ext cx="667080" cy="381240"/>
          </a:xfrm>
          <a:custGeom>
            <a:avLst/>
            <a:gdLst/>
            <a:ahLst/>
            <a:rect l="0" t="0" r="r" b="b"/>
            <a:pathLst>
              <a:path w="1853" h="1059">
                <a:moveTo>
                  <a:pt x="0" y="0"/>
                </a:moveTo>
                <a:lnTo>
                  <a:pt x="1853" y="0"/>
                </a:lnTo>
                <a:lnTo>
                  <a:pt x="18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5790960" y="4514760"/>
            <a:ext cx="972000" cy="381240"/>
          </a:xfrm>
          <a:custGeom>
            <a:avLst/>
            <a:gdLst/>
            <a:ahLst/>
            <a:rect l="0" t="0" r="r" b="b"/>
            <a:pathLst>
              <a:path w="2700" h="1059">
                <a:moveTo>
                  <a:pt x="0" y="0"/>
                </a:moveTo>
                <a:lnTo>
                  <a:pt x="2700" y="0"/>
                </a:lnTo>
                <a:lnTo>
                  <a:pt x="270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6762600" y="4514760"/>
            <a:ext cx="724320" cy="381240"/>
          </a:xfrm>
          <a:custGeom>
            <a:avLst/>
            <a:gdLst/>
            <a:ahLst/>
            <a:rect l="0" t="0" r="r" b="b"/>
            <a:pathLst>
              <a:path w="2012" h="1059">
                <a:moveTo>
                  <a:pt x="0" y="0"/>
                </a:moveTo>
                <a:lnTo>
                  <a:pt x="2012" y="0"/>
                </a:lnTo>
                <a:lnTo>
                  <a:pt x="2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7486560" y="4514760"/>
            <a:ext cx="648000" cy="381240"/>
          </a:xfrm>
          <a:custGeom>
            <a:avLst/>
            <a:gdLst/>
            <a:ahLst/>
            <a:rect l="0" t="0" r="r" b="b"/>
            <a:pathLst>
              <a:path w="1800" h="1059">
                <a:moveTo>
                  <a:pt x="0" y="0"/>
                </a:moveTo>
                <a:lnTo>
                  <a:pt x="1800" y="0"/>
                </a:lnTo>
                <a:lnTo>
                  <a:pt x="180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618840" y="4895640"/>
            <a:ext cx="2381760" cy="371880"/>
          </a:xfrm>
          <a:custGeom>
            <a:avLst/>
            <a:gdLst/>
            <a:ahLst/>
            <a:rect l="0" t="0" r="r" b="b"/>
            <a:pathLst>
              <a:path w="6616" h="1033">
                <a:moveTo>
                  <a:pt x="0" y="0"/>
                </a:moveTo>
                <a:lnTo>
                  <a:pt x="6616" y="0"/>
                </a:lnTo>
                <a:lnTo>
                  <a:pt x="66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3000240" y="4895640"/>
            <a:ext cx="628920" cy="371880"/>
          </a:xfrm>
          <a:custGeom>
            <a:avLst/>
            <a:gdLst/>
            <a:ahLst/>
            <a:rect l="0" t="0" r="r" b="b"/>
            <a:pathLst>
              <a:path w="1747" h="1033">
                <a:moveTo>
                  <a:pt x="0" y="0"/>
                </a:moveTo>
                <a:lnTo>
                  <a:pt x="1747" y="0"/>
                </a:lnTo>
                <a:lnTo>
                  <a:pt x="17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3628800" y="48956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4276440" y="489564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5124240" y="4895640"/>
            <a:ext cx="667080" cy="371880"/>
          </a:xfrm>
          <a:custGeom>
            <a:avLst/>
            <a:gdLst/>
            <a:ahLst/>
            <a:rect l="0" t="0" r="r" b="b"/>
            <a:pathLst>
              <a:path w="1853" h="1033">
                <a:moveTo>
                  <a:pt x="0" y="0"/>
                </a:moveTo>
                <a:lnTo>
                  <a:pt x="1853" y="0"/>
                </a:lnTo>
                <a:lnTo>
                  <a:pt x="18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5790960" y="4895640"/>
            <a:ext cx="972000" cy="371880"/>
          </a:xfrm>
          <a:custGeom>
            <a:avLst/>
            <a:gdLst/>
            <a:ahLst/>
            <a:rect l="0" t="0" r="r" b="b"/>
            <a:pathLst>
              <a:path w="2700" h="1033">
                <a:moveTo>
                  <a:pt x="0" y="0"/>
                </a:moveTo>
                <a:lnTo>
                  <a:pt x="2700" y="0"/>
                </a:lnTo>
                <a:lnTo>
                  <a:pt x="27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6762600" y="489564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7486560" y="48956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618840" y="5267160"/>
            <a:ext cx="2381760" cy="381240"/>
          </a:xfrm>
          <a:custGeom>
            <a:avLst/>
            <a:gdLst/>
            <a:ahLst/>
            <a:rect l="0" t="0" r="r" b="b"/>
            <a:pathLst>
              <a:path w="6616" h="1059">
                <a:moveTo>
                  <a:pt x="0" y="0"/>
                </a:moveTo>
                <a:lnTo>
                  <a:pt x="6616" y="0"/>
                </a:lnTo>
                <a:lnTo>
                  <a:pt x="661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3000240" y="5267160"/>
            <a:ext cx="628920" cy="381240"/>
          </a:xfrm>
          <a:custGeom>
            <a:avLst/>
            <a:gdLst/>
            <a:ahLst/>
            <a:rect l="0" t="0" r="r" b="b"/>
            <a:pathLst>
              <a:path w="1747" h="1059">
                <a:moveTo>
                  <a:pt x="0" y="0"/>
                </a:moveTo>
                <a:lnTo>
                  <a:pt x="1747" y="0"/>
                </a:lnTo>
                <a:lnTo>
                  <a:pt x="17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3628800" y="5267160"/>
            <a:ext cx="648000" cy="381240"/>
          </a:xfrm>
          <a:custGeom>
            <a:avLst/>
            <a:gdLst/>
            <a:ahLst/>
            <a:rect l="0" t="0" r="r" b="b"/>
            <a:pathLst>
              <a:path w="1800" h="1059">
                <a:moveTo>
                  <a:pt x="0" y="0"/>
                </a:moveTo>
                <a:lnTo>
                  <a:pt x="1800" y="0"/>
                </a:lnTo>
                <a:lnTo>
                  <a:pt x="180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4276440" y="5267160"/>
            <a:ext cx="848160" cy="381240"/>
          </a:xfrm>
          <a:custGeom>
            <a:avLst/>
            <a:gdLst/>
            <a:ahLst/>
            <a:rect l="0" t="0" r="r" b="b"/>
            <a:pathLst>
              <a:path w="2356" h="1059">
                <a:moveTo>
                  <a:pt x="0" y="0"/>
                </a:moveTo>
                <a:lnTo>
                  <a:pt x="2356" y="0"/>
                </a:lnTo>
                <a:lnTo>
                  <a:pt x="235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5124240" y="5267160"/>
            <a:ext cx="667080" cy="381240"/>
          </a:xfrm>
          <a:custGeom>
            <a:avLst/>
            <a:gdLst/>
            <a:ahLst/>
            <a:rect l="0" t="0" r="r" b="b"/>
            <a:pathLst>
              <a:path w="1853" h="1059">
                <a:moveTo>
                  <a:pt x="0" y="0"/>
                </a:moveTo>
                <a:lnTo>
                  <a:pt x="1853" y="0"/>
                </a:lnTo>
                <a:lnTo>
                  <a:pt x="185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5790960" y="5267160"/>
            <a:ext cx="972000" cy="381240"/>
          </a:xfrm>
          <a:custGeom>
            <a:avLst/>
            <a:gdLst/>
            <a:ahLst/>
            <a:rect l="0" t="0" r="r" b="b"/>
            <a:pathLst>
              <a:path w="2700" h="1059">
                <a:moveTo>
                  <a:pt x="0" y="0"/>
                </a:moveTo>
                <a:lnTo>
                  <a:pt x="2700" y="0"/>
                </a:lnTo>
                <a:lnTo>
                  <a:pt x="270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6762600" y="5267160"/>
            <a:ext cx="724320" cy="381240"/>
          </a:xfrm>
          <a:custGeom>
            <a:avLst/>
            <a:gdLst/>
            <a:ahLst/>
            <a:rect l="0" t="0" r="r" b="b"/>
            <a:pathLst>
              <a:path w="2012" h="1059">
                <a:moveTo>
                  <a:pt x="0" y="0"/>
                </a:moveTo>
                <a:lnTo>
                  <a:pt x="2012" y="0"/>
                </a:lnTo>
                <a:lnTo>
                  <a:pt x="2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7486560" y="5267160"/>
            <a:ext cx="648000" cy="381240"/>
          </a:xfrm>
          <a:custGeom>
            <a:avLst/>
            <a:gdLst/>
            <a:ahLst/>
            <a:rect l="0" t="0" r="r" b="b"/>
            <a:pathLst>
              <a:path w="1800" h="1059">
                <a:moveTo>
                  <a:pt x="0" y="0"/>
                </a:moveTo>
                <a:lnTo>
                  <a:pt x="1800" y="0"/>
                </a:lnTo>
                <a:lnTo>
                  <a:pt x="180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618840" y="5648040"/>
            <a:ext cx="2381760" cy="371880"/>
          </a:xfrm>
          <a:custGeom>
            <a:avLst/>
            <a:gdLst/>
            <a:ahLst/>
            <a:rect l="0" t="0" r="r" b="b"/>
            <a:pathLst>
              <a:path w="6616" h="1033">
                <a:moveTo>
                  <a:pt x="0" y="0"/>
                </a:moveTo>
                <a:lnTo>
                  <a:pt x="6616" y="0"/>
                </a:lnTo>
                <a:lnTo>
                  <a:pt x="66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3000240" y="5648040"/>
            <a:ext cx="628920" cy="371880"/>
          </a:xfrm>
          <a:custGeom>
            <a:avLst/>
            <a:gdLst/>
            <a:ahLst/>
            <a:rect l="0" t="0" r="r" b="b"/>
            <a:pathLst>
              <a:path w="1747" h="1033">
                <a:moveTo>
                  <a:pt x="0" y="0"/>
                </a:moveTo>
                <a:lnTo>
                  <a:pt x="1747" y="0"/>
                </a:lnTo>
                <a:lnTo>
                  <a:pt x="17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3628800" y="56480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4276440" y="5648040"/>
            <a:ext cx="848160" cy="371880"/>
          </a:xfrm>
          <a:custGeom>
            <a:avLst/>
            <a:gdLst/>
            <a:ahLst/>
            <a:rect l="0" t="0" r="r" b="b"/>
            <a:pathLst>
              <a:path w="2356" h="1033">
                <a:moveTo>
                  <a:pt x="0" y="0"/>
                </a:moveTo>
                <a:lnTo>
                  <a:pt x="2356" y="0"/>
                </a:lnTo>
                <a:lnTo>
                  <a:pt x="23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5124240" y="5648040"/>
            <a:ext cx="667080" cy="371880"/>
          </a:xfrm>
          <a:custGeom>
            <a:avLst/>
            <a:gdLst/>
            <a:ahLst/>
            <a:rect l="0" t="0" r="r" b="b"/>
            <a:pathLst>
              <a:path w="1853" h="1033">
                <a:moveTo>
                  <a:pt x="0" y="0"/>
                </a:moveTo>
                <a:lnTo>
                  <a:pt x="1853" y="0"/>
                </a:lnTo>
                <a:lnTo>
                  <a:pt x="185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5790960" y="5648040"/>
            <a:ext cx="972000" cy="371880"/>
          </a:xfrm>
          <a:custGeom>
            <a:avLst/>
            <a:gdLst/>
            <a:ahLst/>
            <a:rect l="0" t="0" r="r" b="b"/>
            <a:pathLst>
              <a:path w="2700" h="1033">
                <a:moveTo>
                  <a:pt x="0" y="0"/>
                </a:moveTo>
                <a:lnTo>
                  <a:pt x="2700" y="0"/>
                </a:lnTo>
                <a:lnTo>
                  <a:pt x="27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6762600" y="564804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7486560" y="5648040"/>
            <a:ext cx="648000" cy="371880"/>
          </a:xfrm>
          <a:custGeom>
            <a:avLst/>
            <a:gdLst/>
            <a:ahLst/>
            <a:rect l="0" t="0" r="r" b="b"/>
            <a:pathLst>
              <a:path w="1800" h="1033">
                <a:moveTo>
                  <a:pt x="0" y="0"/>
                </a:moveTo>
                <a:lnTo>
                  <a:pt x="1800" y="0"/>
                </a:lnTo>
                <a:lnTo>
                  <a:pt x="18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609480" y="4133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609480" y="413352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3000240" y="4133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3009600" y="4133520"/>
            <a:ext cx="619560" cy="10080"/>
          </a:xfrm>
          <a:custGeom>
            <a:avLst/>
            <a:gdLst/>
            <a:ahLst/>
            <a:rect l="0" t="0" r="r" b="b"/>
            <a:pathLst>
              <a:path w="1721" h="28">
                <a:moveTo>
                  <a:pt x="0" y="0"/>
                </a:moveTo>
                <a:lnTo>
                  <a:pt x="1721" y="0"/>
                </a:lnTo>
                <a:lnTo>
                  <a:pt x="1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3619440" y="4133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3628800" y="4133520"/>
            <a:ext cx="657720" cy="10080"/>
          </a:xfrm>
          <a:custGeom>
            <a:avLst/>
            <a:gdLst/>
            <a:ahLst/>
            <a:rect l="0" t="0" r="r" b="b"/>
            <a:pathLst>
              <a:path w="1827" h="28">
                <a:moveTo>
                  <a:pt x="0" y="0"/>
                </a:moveTo>
                <a:lnTo>
                  <a:pt x="1827" y="0"/>
                </a:lnTo>
                <a:lnTo>
                  <a:pt x="18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4276440" y="4133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4286160" y="413352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5114880" y="4133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5124240" y="4133520"/>
            <a:ext cx="676800" cy="10080"/>
          </a:xfrm>
          <a:custGeom>
            <a:avLst/>
            <a:gdLst/>
            <a:ahLst/>
            <a:rect l="0" t="0" r="r" b="b"/>
            <a:pathLst>
              <a:path w="1880" h="28">
                <a:moveTo>
                  <a:pt x="0" y="0"/>
                </a:moveTo>
                <a:lnTo>
                  <a:pt x="1880" y="0"/>
                </a:lnTo>
                <a:lnTo>
                  <a:pt x="18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5790960" y="4133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5800680" y="4133520"/>
            <a:ext cx="962280" cy="10080"/>
          </a:xfrm>
          <a:custGeom>
            <a:avLst/>
            <a:gdLst/>
            <a:ahLst/>
            <a:rect l="0" t="0" r="r" b="b"/>
            <a:pathLst>
              <a:path w="2673" h="28">
                <a:moveTo>
                  <a:pt x="0" y="0"/>
                </a:moveTo>
                <a:lnTo>
                  <a:pt x="2673" y="0"/>
                </a:lnTo>
                <a:lnTo>
                  <a:pt x="26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6752880" y="4133520"/>
            <a:ext cx="10440" cy="390960"/>
          </a:xfrm>
          <a:custGeom>
            <a:avLst/>
            <a:gdLst/>
            <a:ahLst/>
            <a:rect l="0" t="0" r="r" b="b"/>
            <a:pathLst>
              <a:path w="29" h="1086">
                <a:moveTo>
                  <a:pt x="0" y="0"/>
                </a:moveTo>
                <a:lnTo>
                  <a:pt x="29" y="0"/>
                </a:lnTo>
                <a:lnTo>
                  <a:pt x="2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6762600" y="413352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7476840" y="4133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7486560" y="4133520"/>
            <a:ext cx="648000" cy="10080"/>
          </a:xfrm>
          <a:custGeom>
            <a:avLst/>
            <a:gdLst/>
            <a:ahLst/>
            <a:rect l="0" t="0" r="r" b="b"/>
            <a:pathLst>
              <a:path w="1800" h="28">
                <a:moveTo>
                  <a:pt x="0" y="0"/>
                </a:moveTo>
                <a:lnTo>
                  <a:pt x="1800" y="0"/>
                </a:lnTo>
                <a:lnTo>
                  <a:pt x="18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8124480" y="4133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609480" y="451476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3009600" y="451476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3628800" y="451476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1827" y="0"/>
                </a:lnTo>
                <a:lnTo>
                  <a:pt x="1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4286160" y="45147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5124240" y="451476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5800680" y="451476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6762600" y="451476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7486560" y="4514760"/>
            <a:ext cx="648000" cy="9720"/>
          </a:xfrm>
          <a:custGeom>
            <a:avLst/>
            <a:gdLst/>
            <a:ahLst/>
            <a:rect l="0" t="0" r="r" b="b"/>
            <a:pathLst>
              <a:path w="1800" h="27">
                <a:moveTo>
                  <a:pt x="0" y="0"/>
                </a:moveTo>
                <a:lnTo>
                  <a:pt x="1800" y="0"/>
                </a:lnTo>
                <a:lnTo>
                  <a:pt x="18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60948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300024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361944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4276440" y="4524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5114880" y="4524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5790960" y="4524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6752880" y="452412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7476840" y="4524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8124480" y="4524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09480" y="4895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609480" y="488628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3000240" y="4895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3009600" y="488628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3619440" y="4895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3628800" y="488628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1827" y="0"/>
                </a:lnTo>
                <a:lnTo>
                  <a:pt x="1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4276440" y="4895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4286160" y="48862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5114880" y="4895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5124240" y="488628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5790960" y="4895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5800680" y="488628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6752880" y="489564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6762600" y="488628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7476840" y="4895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7486560" y="4886280"/>
            <a:ext cx="648000" cy="9720"/>
          </a:xfrm>
          <a:custGeom>
            <a:avLst/>
            <a:gdLst/>
            <a:ahLst/>
            <a:rect l="0" t="0" r="r" b="b"/>
            <a:pathLst>
              <a:path w="1800" h="27">
                <a:moveTo>
                  <a:pt x="0" y="0"/>
                </a:moveTo>
                <a:lnTo>
                  <a:pt x="1800" y="0"/>
                </a:lnTo>
                <a:lnTo>
                  <a:pt x="18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8124480" y="4895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609480" y="5276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609480" y="526716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3000240" y="5276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3009600" y="526716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3619440" y="5276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3628800" y="526716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1827" y="0"/>
                </a:lnTo>
                <a:lnTo>
                  <a:pt x="1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4276440" y="5276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4286160" y="52671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5114880" y="5276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5124240" y="526716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5790960" y="5276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5800680" y="526716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6752880" y="527652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6762600" y="526716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7476840" y="5276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7486560" y="5267160"/>
            <a:ext cx="648000" cy="9720"/>
          </a:xfrm>
          <a:custGeom>
            <a:avLst/>
            <a:gdLst/>
            <a:ahLst/>
            <a:rect l="0" t="0" r="r" b="b"/>
            <a:pathLst>
              <a:path w="1800" h="27">
                <a:moveTo>
                  <a:pt x="0" y="0"/>
                </a:moveTo>
                <a:lnTo>
                  <a:pt x="1800" y="0"/>
                </a:lnTo>
                <a:lnTo>
                  <a:pt x="18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8124480" y="5276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609480" y="5648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09480" y="563868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3000240" y="5648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3009600" y="563868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3619440" y="5648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3628800" y="563868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1827" y="0"/>
                </a:lnTo>
                <a:lnTo>
                  <a:pt x="1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4276440" y="5648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4286160" y="56386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5114880" y="5648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5124240" y="5638680"/>
            <a:ext cx="676800" cy="9720"/>
          </a:xfrm>
          <a:custGeom>
            <a:avLst/>
            <a:gdLst/>
            <a:ahLst/>
            <a:rect l="0" t="0" r="r" b="b"/>
            <a:pathLst>
              <a:path w="1880" h="27">
                <a:moveTo>
                  <a:pt x="0" y="0"/>
                </a:moveTo>
                <a:lnTo>
                  <a:pt x="1880" y="0"/>
                </a:lnTo>
                <a:lnTo>
                  <a:pt x="18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5790960" y="5648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5800680" y="563868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6752880" y="564804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0" y="0"/>
                </a:moveTo>
                <a:lnTo>
                  <a:pt x="29" y="0"/>
                </a:lnTo>
                <a:lnTo>
                  <a:pt x="2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6762600" y="563868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7476840" y="5648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7486560" y="5638680"/>
            <a:ext cx="648000" cy="9720"/>
          </a:xfrm>
          <a:custGeom>
            <a:avLst/>
            <a:gdLst/>
            <a:ahLst/>
            <a:rect l="0" t="0" r="r" b="b"/>
            <a:pathLst>
              <a:path w="1800" h="27">
                <a:moveTo>
                  <a:pt x="0" y="0"/>
                </a:moveTo>
                <a:lnTo>
                  <a:pt x="1800" y="0"/>
                </a:lnTo>
                <a:lnTo>
                  <a:pt x="18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8124480" y="5648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609480" y="601956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3009600" y="6019560"/>
            <a:ext cx="619560" cy="10080"/>
          </a:xfrm>
          <a:custGeom>
            <a:avLst/>
            <a:gdLst/>
            <a:ahLst/>
            <a:rect l="0" t="0" r="r" b="b"/>
            <a:pathLst>
              <a:path w="1721" h="28">
                <a:moveTo>
                  <a:pt x="0" y="0"/>
                </a:moveTo>
                <a:lnTo>
                  <a:pt x="1721" y="0"/>
                </a:lnTo>
                <a:lnTo>
                  <a:pt x="1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3628800" y="6019560"/>
            <a:ext cx="657720" cy="10080"/>
          </a:xfrm>
          <a:custGeom>
            <a:avLst/>
            <a:gdLst/>
            <a:ahLst/>
            <a:rect l="0" t="0" r="r" b="b"/>
            <a:pathLst>
              <a:path w="1827" h="28">
                <a:moveTo>
                  <a:pt x="0" y="0"/>
                </a:moveTo>
                <a:lnTo>
                  <a:pt x="1827" y="0"/>
                </a:lnTo>
                <a:lnTo>
                  <a:pt x="18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4286160" y="601956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5124240" y="6019560"/>
            <a:ext cx="676800" cy="10080"/>
          </a:xfrm>
          <a:custGeom>
            <a:avLst/>
            <a:gdLst/>
            <a:ahLst/>
            <a:rect l="0" t="0" r="r" b="b"/>
            <a:pathLst>
              <a:path w="1880" h="28">
                <a:moveTo>
                  <a:pt x="0" y="0"/>
                </a:moveTo>
                <a:lnTo>
                  <a:pt x="1880" y="0"/>
                </a:lnTo>
                <a:lnTo>
                  <a:pt x="18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5800680" y="6019560"/>
            <a:ext cx="962280" cy="10080"/>
          </a:xfrm>
          <a:custGeom>
            <a:avLst/>
            <a:gdLst/>
            <a:ahLst/>
            <a:rect l="0" t="0" r="r" b="b"/>
            <a:pathLst>
              <a:path w="2673" h="28">
                <a:moveTo>
                  <a:pt x="0" y="0"/>
                </a:moveTo>
                <a:lnTo>
                  <a:pt x="2673" y="0"/>
                </a:lnTo>
                <a:lnTo>
                  <a:pt x="26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6762600" y="601956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7486560" y="6019560"/>
            <a:ext cx="648000" cy="10080"/>
          </a:xfrm>
          <a:custGeom>
            <a:avLst/>
            <a:gdLst/>
            <a:ahLst/>
            <a:rect l="0" t="0" r="r" b="b"/>
            <a:pathLst>
              <a:path w="1800" h="28">
                <a:moveTo>
                  <a:pt x="0" y="0"/>
                </a:moveTo>
                <a:lnTo>
                  <a:pt x="1800" y="0"/>
                </a:lnTo>
                <a:lnTo>
                  <a:pt x="18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609480" y="1514160"/>
            <a:ext cx="5905800" cy="2362680"/>
          </a:xfrm>
          <a:custGeom>
            <a:avLst/>
            <a:gdLst/>
            <a:ahLst/>
            <a:rect l="0" t="0" r="r" b="b"/>
            <a:pathLst>
              <a:path w="16405" h="6563">
                <a:moveTo>
                  <a:pt x="0" y="0"/>
                </a:moveTo>
                <a:lnTo>
                  <a:pt x="16405" y="0"/>
                </a:lnTo>
                <a:lnTo>
                  <a:pt x="16405" y="6563"/>
                </a:lnTo>
                <a:lnTo>
                  <a:pt x="0" y="6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9" name=""/>
          <p:cNvPicPr/>
          <p:nvPr/>
        </p:nvPicPr>
        <p:blipFill>
          <a:blip r:embed="rId1"/>
          <a:stretch/>
        </p:blipFill>
        <p:spPr>
          <a:xfrm>
            <a:off x="609480" y="1514520"/>
            <a:ext cx="5905080" cy="236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0" name=""/>
          <p:cNvSpPr txBox="1"/>
          <p:nvPr/>
        </p:nvSpPr>
        <p:spPr>
          <a:xfrm>
            <a:off x="609480" y="768600"/>
            <a:ext cx="21913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Les 4 profils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743040" y="4228920"/>
            <a:ext cx="59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Groupe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3133440" y="4228920"/>
            <a:ext cx="363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Dép.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3755520" y="4228920"/>
            <a:ext cx="391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OMR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4405320" y="4228920"/>
            <a:ext cx="587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Recycl.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5252040" y="422892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Verts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5921280" y="4228920"/>
            <a:ext cx="708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Encomb.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6888960" y="4228920"/>
            <a:ext cx="466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Dang.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7614000" y="4228920"/>
            <a:ext cx="401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Total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743040" y="4610160"/>
            <a:ext cx="13982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Profil intermédiaire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3310920" y="46101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3867120" y="46101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217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4713840" y="46101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144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5476680" y="46101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80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6444720" y="46101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74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7182000" y="46101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7722720" y="46101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528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743040" y="4981680"/>
            <a:ext cx="2125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Déchets verts et déchèteries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3310920" y="49816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3867120" y="49816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226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4713840" y="49816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145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5383080" y="49816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151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6444720" y="49816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7169400" y="49816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7722720" y="49816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629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743040" y="5362560"/>
            <a:ext cx="1836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Grandes agglomérations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3310920" y="53625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3867120" y="53625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275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4807440" y="53625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67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5476680" y="53625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6444720" y="536256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7263000" y="536256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7722720" y="536256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456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743040" y="5734080"/>
            <a:ext cx="2116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Ordures ménagères élevées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3404520" y="5734080"/>
            <a:ext cx="168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3867120" y="57340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361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4713840" y="57340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120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5476680" y="57340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82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6444720" y="57340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7169400" y="5734080"/>
            <a:ext cx="187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7722720" y="573408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674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6" name=""/>
          <p:cNvPicPr/>
          <p:nvPr/>
        </p:nvPicPr>
        <p:blipFill>
          <a:blip r:embed="rId1"/>
          <a:stretch/>
        </p:blipFill>
        <p:spPr>
          <a:xfrm>
            <a:off x="6580800" y="447840"/>
            <a:ext cx="5611680" cy="59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7" name=""/>
          <p:cNvSpPr txBox="1"/>
          <p:nvPr/>
        </p:nvSpPr>
        <p:spPr>
          <a:xfrm>
            <a:off x="609480" y="1244880"/>
            <a:ext cx="46087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Une géographie retrouvée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609480" y="1711800"/>
            <a:ext cx="48355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sans donnée géographique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609480" y="2500200"/>
            <a:ext cx="5253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 modèle n'a reçu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que des kilos de déchets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609480" y="2871360"/>
            <a:ext cx="2859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ni région, ni coordonnées.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885600" y="4028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609480" y="3395520"/>
            <a:ext cx="3619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groupes dessinent pourtant :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885600" y="4466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1104840" y="3919320"/>
            <a:ext cx="1767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Grand Ouest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885600" y="4895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5"/>
                  <a:pt x="171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1104840" y="4357440"/>
            <a:ext cx="3272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grandes agglomérations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885600" y="5333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1104840" y="4786200"/>
            <a:ext cx="3148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la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Méditerranée et la Corse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1104840" y="5224320"/>
            <a:ext cx="2927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une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France intermédiaire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609480" y="2371680"/>
            <a:ext cx="5353200" cy="47880"/>
          </a:xfrm>
          <a:custGeom>
            <a:avLst/>
            <a:gdLst/>
            <a:ahLst/>
            <a:rect l="0" t="0" r="r" b="b"/>
            <a:pathLst>
              <a:path w="14870" h="133">
                <a:moveTo>
                  <a:pt x="0" y="0"/>
                </a:moveTo>
                <a:lnTo>
                  <a:pt x="14870" y="0"/>
                </a:lnTo>
                <a:lnTo>
                  <a:pt x="14870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609480" y="3485880"/>
            <a:ext cx="5353200" cy="10080"/>
          </a:xfrm>
          <a:custGeom>
            <a:avLst/>
            <a:gdLst/>
            <a:ahLst/>
            <a:rect l="0" t="0" r="r" b="b"/>
            <a:pathLst>
              <a:path w="14870" h="28">
                <a:moveTo>
                  <a:pt x="0" y="0"/>
                </a:moveTo>
                <a:lnTo>
                  <a:pt x="14870" y="0"/>
                </a:lnTo>
                <a:lnTo>
                  <a:pt x="1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5952960" y="237168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132"/>
                </a:moveTo>
                <a:lnTo>
                  <a:pt x="0" y="3123"/>
                </a:lnTo>
                <a:lnTo>
                  <a:pt x="27" y="3123"/>
                </a:lnTo>
                <a:lnTo>
                  <a:pt x="27" y="0"/>
                </a:lnTo>
                <a:lnTo>
                  <a:pt x="0" y="132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609480" y="237168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0"/>
                </a:moveTo>
                <a:lnTo>
                  <a:pt x="0" y="3123"/>
                </a:lnTo>
                <a:lnTo>
                  <a:pt x="27" y="3123"/>
                </a:lnTo>
                <a:lnTo>
                  <a:pt x="27" y="132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609480" y="1635480"/>
            <a:ext cx="40510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Interpréter les groupes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771480" y="2549160"/>
            <a:ext cx="21625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Profil intermédiaire (59)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771480" y="2844720"/>
            <a:ext cx="49384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France « moyenne » : Centre, Est, Massif central. Le plus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6229080" y="2371680"/>
            <a:ext cx="5353560" cy="47880"/>
          </a:xfrm>
          <a:custGeom>
            <a:avLst/>
            <a:gdLst/>
            <a:ahLst/>
            <a:rect l="0" t="0" r="r" b="b"/>
            <a:pathLst>
              <a:path w="14871" h="133">
                <a:moveTo>
                  <a:pt x="0" y="0"/>
                </a:moveTo>
                <a:lnTo>
                  <a:pt x="14871" y="0"/>
                </a:lnTo>
                <a:lnTo>
                  <a:pt x="14871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6229080" y="3485880"/>
            <a:ext cx="5353560" cy="10080"/>
          </a:xfrm>
          <a:custGeom>
            <a:avLst/>
            <a:gdLst/>
            <a:ahLst/>
            <a:rect l="0" t="0" r="r" b="b"/>
            <a:pathLst>
              <a:path w="14871" h="28">
                <a:moveTo>
                  <a:pt x="0" y="0"/>
                </a:moveTo>
                <a:lnTo>
                  <a:pt x="14871" y="0"/>
                </a:lnTo>
                <a:lnTo>
                  <a:pt x="148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11572560" y="2371680"/>
            <a:ext cx="10080" cy="1124280"/>
          </a:xfrm>
          <a:custGeom>
            <a:avLst/>
            <a:gdLst/>
            <a:ahLst/>
            <a:rect l="0" t="0" r="r" b="b"/>
            <a:pathLst>
              <a:path w="28" h="3123">
                <a:moveTo>
                  <a:pt x="0" y="132"/>
                </a:moveTo>
                <a:lnTo>
                  <a:pt x="0" y="3123"/>
                </a:lnTo>
                <a:lnTo>
                  <a:pt x="28" y="3123"/>
                </a:lnTo>
                <a:lnTo>
                  <a:pt x="28" y="0"/>
                </a:lnTo>
                <a:lnTo>
                  <a:pt x="0" y="132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6229080" y="2371680"/>
            <a:ext cx="10080" cy="1124280"/>
          </a:xfrm>
          <a:custGeom>
            <a:avLst/>
            <a:gdLst/>
            <a:ahLst/>
            <a:rect l="0" t="0" r="r" b="b"/>
            <a:pathLst>
              <a:path w="28" h="3123">
                <a:moveTo>
                  <a:pt x="0" y="0"/>
                </a:moveTo>
                <a:lnTo>
                  <a:pt x="0" y="3123"/>
                </a:lnTo>
                <a:lnTo>
                  <a:pt x="28" y="3123"/>
                </a:lnTo>
                <a:lnTo>
                  <a:pt x="28" y="132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71480" y="3130200"/>
            <a:ext cx="2249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cohérent (silhouette 0,39).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6391440" y="2549160"/>
            <a:ext cx="3023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Déchets verts et déchèteries (19)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6391440" y="2844720"/>
            <a:ext cx="5008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Grand Ouest. Verts ×1,7 (151 kg/hab). Compostent le plus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609480" y="3762360"/>
            <a:ext cx="5353200" cy="47880"/>
          </a:xfrm>
          <a:custGeom>
            <a:avLst/>
            <a:gdLst/>
            <a:ahLst/>
            <a:rect l="0" t="0" r="r" b="b"/>
            <a:pathLst>
              <a:path w="14870" h="133">
                <a:moveTo>
                  <a:pt x="0" y="0"/>
                </a:moveTo>
                <a:lnTo>
                  <a:pt x="14870" y="0"/>
                </a:lnTo>
                <a:lnTo>
                  <a:pt x="14870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609480" y="5152680"/>
            <a:ext cx="5353200" cy="10080"/>
          </a:xfrm>
          <a:custGeom>
            <a:avLst/>
            <a:gdLst/>
            <a:ahLst/>
            <a:rect l="0" t="0" r="r" b="b"/>
            <a:pathLst>
              <a:path w="14870" h="28">
                <a:moveTo>
                  <a:pt x="0" y="0"/>
                </a:moveTo>
                <a:lnTo>
                  <a:pt x="14870" y="0"/>
                </a:lnTo>
                <a:lnTo>
                  <a:pt x="1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5952960" y="3762360"/>
            <a:ext cx="9720" cy="1400400"/>
          </a:xfrm>
          <a:custGeom>
            <a:avLst/>
            <a:gdLst/>
            <a:ahLst/>
            <a:rect l="0" t="0" r="r" b="b"/>
            <a:pathLst>
              <a:path w="27" h="3890">
                <a:moveTo>
                  <a:pt x="0" y="132"/>
                </a:moveTo>
                <a:lnTo>
                  <a:pt x="0" y="3890"/>
                </a:lnTo>
                <a:lnTo>
                  <a:pt x="27" y="3890"/>
                </a:lnTo>
                <a:lnTo>
                  <a:pt x="27" y="0"/>
                </a:lnTo>
                <a:lnTo>
                  <a:pt x="0" y="132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609480" y="3762360"/>
            <a:ext cx="9720" cy="1400400"/>
          </a:xfrm>
          <a:custGeom>
            <a:avLst/>
            <a:gdLst/>
            <a:ahLst/>
            <a:rect l="0" t="0" r="r" b="b"/>
            <a:pathLst>
              <a:path w="27" h="3890">
                <a:moveTo>
                  <a:pt x="0" y="0"/>
                </a:moveTo>
                <a:lnTo>
                  <a:pt x="0" y="3890"/>
                </a:lnTo>
                <a:lnTo>
                  <a:pt x="27" y="3890"/>
                </a:lnTo>
                <a:lnTo>
                  <a:pt x="27" y="132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6391440" y="3130200"/>
            <a:ext cx="3529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(22 %). Hypothèse : maisons avec jardin.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771480" y="3939840"/>
            <a:ext cx="26787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Grandes agglomérations (13)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771480" y="4225680"/>
            <a:ext cx="46267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Île-de-France, Lyon, Marseille, Toulouse. Le moins de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771480" y="4520880"/>
            <a:ext cx="48096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déchets (456) mais le moins de tri. Incinèrent le plus (49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6229080" y="3762360"/>
            <a:ext cx="5353560" cy="47880"/>
          </a:xfrm>
          <a:custGeom>
            <a:avLst/>
            <a:gdLst/>
            <a:ahLst/>
            <a:rect l="0" t="0" r="r" b="b"/>
            <a:pathLst>
              <a:path w="14871" h="133">
                <a:moveTo>
                  <a:pt x="0" y="0"/>
                </a:moveTo>
                <a:lnTo>
                  <a:pt x="14871" y="0"/>
                </a:lnTo>
                <a:lnTo>
                  <a:pt x="14871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6229080" y="5152680"/>
            <a:ext cx="5353560" cy="10080"/>
          </a:xfrm>
          <a:custGeom>
            <a:avLst/>
            <a:gdLst/>
            <a:ahLst/>
            <a:rect l="0" t="0" r="r" b="b"/>
            <a:pathLst>
              <a:path w="14871" h="28">
                <a:moveTo>
                  <a:pt x="0" y="0"/>
                </a:moveTo>
                <a:lnTo>
                  <a:pt x="14871" y="0"/>
                </a:lnTo>
                <a:lnTo>
                  <a:pt x="148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11572560" y="3762360"/>
            <a:ext cx="10080" cy="1400400"/>
          </a:xfrm>
          <a:custGeom>
            <a:avLst/>
            <a:gdLst/>
            <a:ahLst/>
            <a:rect l="0" t="0" r="r" b="b"/>
            <a:pathLst>
              <a:path w="28" h="3890">
                <a:moveTo>
                  <a:pt x="0" y="132"/>
                </a:moveTo>
                <a:lnTo>
                  <a:pt x="0" y="3890"/>
                </a:lnTo>
                <a:lnTo>
                  <a:pt x="28" y="3890"/>
                </a:lnTo>
                <a:lnTo>
                  <a:pt x="28" y="0"/>
                </a:lnTo>
                <a:lnTo>
                  <a:pt x="0" y="132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6229080" y="3762360"/>
            <a:ext cx="10080" cy="1400400"/>
          </a:xfrm>
          <a:custGeom>
            <a:avLst/>
            <a:gdLst/>
            <a:ahLst/>
            <a:rect l="0" t="0" r="r" b="b"/>
            <a:pathLst>
              <a:path w="28" h="3890">
                <a:moveTo>
                  <a:pt x="0" y="0"/>
                </a:moveTo>
                <a:lnTo>
                  <a:pt x="0" y="3890"/>
                </a:lnTo>
                <a:lnTo>
                  <a:pt x="28" y="3890"/>
                </a:lnTo>
                <a:lnTo>
                  <a:pt x="28" y="132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771480" y="4806720"/>
            <a:ext cx="2908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%).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6391440" y="3939840"/>
            <a:ext cx="28731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Ordures ménagères élevées (9)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391440" y="4225680"/>
            <a:ext cx="5029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Méditerranée et Corse. OMR ×1,5 (361 ; 459 en Corse-du-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6391440" y="4520880"/>
            <a:ext cx="38091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Sud). Stockage 37 %. Hypothèse : tourisme.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618840" y="2381040"/>
            <a:ext cx="2381760" cy="381240"/>
          </a:xfrm>
          <a:custGeom>
            <a:avLst/>
            <a:gdLst/>
            <a:ahLst/>
            <a:rect l="0" t="0" r="r" b="b"/>
            <a:pathLst>
              <a:path w="6616" h="1059">
                <a:moveTo>
                  <a:pt x="0" y="0"/>
                </a:moveTo>
                <a:lnTo>
                  <a:pt x="6616" y="0"/>
                </a:lnTo>
                <a:lnTo>
                  <a:pt x="661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3000240" y="2381040"/>
            <a:ext cx="1133640" cy="381240"/>
          </a:xfrm>
          <a:custGeom>
            <a:avLst/>
            <a:gdLst/>
            <a:ahLst/>
            <a:rect l="0" t="0" r="r" b="b"/>
            <a:pathLst>
              <a:path w="3149" h="1059">
                <a:moveTo>
                  <a:pt x="0" y="0"/>
                </a:moveTo>
                <a:lnTo>
                  <a:pt x="3149" y="0"/>
                </a:lnTo>
                <a:lnTo>
                  <a:pt x="31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4133520" y="238104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5628960" y="238104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6848280" y="2381040"/>
            <a:ext cx="1000440" cy="381240"/>
          </a:xfrm>
          <a:custGeom>
            <a:avLst/>
            <a:gdLst/>
            <a:ahLst/>
            <a:rect l="0" t="0" r="r" b="b"/>
            <a:pathLst>
              <a:path w="2779" h="1059">
                <a:moveTo>
                  <a:pt x="0" y="0"/>
                </a:moveTo>
                <a:lnTo>
                  <a:pt x="2779" y="0"/>
                </a:lnTo>
                <a:lnTo>
                  <a:pt x="277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7848360" y="2381040"/>
            <a:ext cx="2076840" cy="381240"/>
          </a:xfrm>
          <a:custGeom>
            <a:avLst/>
            <a:gdLst/>
            <a:ahLst/>
            <a:rect l="0" t="0" r="r" b="b"/>
            <a:pathLst>
              <a:path w="5769" h="1059">
                <a:moveTo>
                  <a:pt x="0" y="0"/>
                </a:moveTo>
                <a:lnTo>
                  <a:pt x="5769" y="0"/>
                </a:lnTo>
                <a:lnTo>
                  <a:pt x="576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618840" y="2381040"/>
            <a:ext cx="2381760" cy="381240"/>
          </a:xfrm>
          <a:custGeom>
            <a:avLst/>
            <a:gdLst/>
            <a:ahLst/>
            <a:rect l="0" t="0" r="r" b="b"/>
            <a:pathLst>
              <a:path w="6616" h="1059">
                <a:moveTo>
                  <a:pt x="0" y="0"/>
                </a:moveTo>
                <a:lnTo>
                  <a:pt x="6616" y="0"/>
                </a:lnTo>
                <a:lnTo>
                  <a:pt x="661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3000240" y="2381040"/>
            <a:ext cx="1133640" cy="381240"/>
          </a:xfrm>
          <a:custGeom>
            <a:avLst/>
            <a:gdLst/>
            <a:ahLst/>
            <a:rect l="0" t="0" r="r" b="b"/>
            <a:pathLst>
              <a:path w="3149" h="1059">
                <a:moveTo>
                  <a:pt x="0" y="0"/>
                </a:moveTo>
                <a:lnTo>
                  <a:pt x="3149" y="0"/>
                </a:lnTo>
                <a:lnTo>
                  <a:pt x="31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4133520" y="238104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5628960" y="2381040"/>
            <a:ext cx="1219680" cy="381240"/>
          </a:xfrm>
          <a:custGeom>
            <a:avLst/>
            <a:gdLst/>
            <a:ahLst/>
            <a:rect l="0" t="0" r="r" b="b"/>
            <a:pathLst>
              <a:path w="3388" h="1059">
                <a:moveTo>
                  <a:pt x="0" y="0"/>
                </a:moveTo>
                <a:lnTo>
                  <a:pt x="3388" y="0"/>
                </a:lnTo>
                <a:lnTo>
                  <a:pt x="338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6848280" y="2381040"/>
            <a:ext cx="1000440" cy="381240"/>
          </a:xfrm>
          <a:custGeom>
            <a:avLst/>
            <a:gdLst/>
            <a:ahLst/>
            <a:rect l="0" t="0" r="r" b="b"/>
            <a:pathLst>
              <a:path w="2779" h="1059">
                <a:moveTo>
                  <a:pt x="0" y="0"/>
                </a:moveTo>
                <a:lnTo>
                  <a:pt x="2779" y="0"/>
                </a:lnTo>
                <a:lnTo>
                  <a:pt x="277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7848360" y="2381040"/>
            <a:ext cx="2076840" cy="381240"/>
          </a:xfrm>
          <a:custGeom>
            <a:avLst/>
            <a:gdLst/>
            <a:ahLst/>
            <a:rect l="0" t="0" r="r" b="b"/>
            <a:pathLst>
              <a:path w="5769" h="1059">
                <a:moveTo>
                  <a:pt x="0" y="0"/>
                </a:moveTo>
                <a:lnTo>
                  <a:pt x="5769" y="0"/>
                </a:lnTo>
                <a:lnTo>
                  <a:pt x="576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618840" y="2761920"/>
            <a:ext cx="2381760" cy="371880"/>
          </a:xfrm>
          <a:custGeom>
            <a:avLst/>
            <a:gdLst/>
            <a:ahLst/>
            <a:rect l="0" t="0" r="r" b="b"/>
            <a:pathLst>
              <a:path w="6616" h="1033">
                <a:moveTo>
                  <a:pt x="0" y="0"/>
                </a:moveTo>
                <a:lnTo>
                  <a:pt x="6616" y="0"/>
                </a:lnTo>
                <a:lnTo>
                  <a:pt x="661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3000240" y="2761920"/>
            <a:ext cx="1133640" cy="371880"/>
          </a:xfrm>
          <a:custGeom>
            <a:avLst/>
            <a:gdLst/>
            <a:ahLst/>
            <a:rect l="0" t="0" r="r" b="b"/>
            <a:pathLst>
              <a:path w="3149" h="1033">
                <a:moveTo>
                  <a:pt x="0" y="0"/>
                </a:moveTo>
                <a:lnTo>
                  <a:pt x="3149" y="0"/>
                </a:lnTo>
                <a:lnTo>
                  <a:pt x="31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4133520" y="276192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5628960" y="276192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0"/>
                </a:moveTo>
                <a:lnTo>
                  <a:pt x="3388" y="0"/>
                </a:lnTo>
                <a:lnTo>
                  <a:pt x="33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6848280" y="2761920"/>
            <a:ext cx="1000440" cy="371880"/>
          </a:xfrm>
          <a:custGeom>
            <a:avLst/>
            <a:gdLst/>
            <a:ahLst/>
            <a:rect l="0" t="0" r="r" b="b"/>
            <a:pathLst>
              <a:path w="2779" h="1033">
                <a:moveTo>
                  <a:pt x="0" y="0"/>
                </a:moveTo>
                <a:lnTo>
                  <a:pt x="2779" y="0"/>
                </a:lnTo>
                <a:lnTo>
                  <a:pt x="27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7848360" y="2761920"/>
            <a:ext cx="2076840" cy="371880"/>
          </a:xfrm>
          <a:custGeom>
            <a:avLst/>
            <a:gdLst/>
            <a:ahLst/>
            <a:rect l="0" t="0" r="r" b="b"/>
            <a:pathLst>
              <a:path w="5769" h="1033">
                <a:moveTo>
                  <a:pt x="0" y="0"/>
                </a:moveTo>
                <a:lnTo>
                  <a:pt x="5769" y="0"/>
                </a:lnTo>
                <a:lnTo>
                  <a:pt x="576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18840" y="3133440"/>
            <a:ext cx="2381760" cy="381600"/>
          </a:xfrm>
          <a:custGeom>
            <a:avLst/>
            <a:gdLst/>
            <a:ahLst/>
            <a:rect l="0" t="0" r="r" b="b"/>
            <a:pathLst>
              <a:path w="6616" h="1060">
                <a:moveTo>
                  <a:pt x="0" y="0"/>
                </a:moveTo>
                <a:lnTo>
                  <a:pt x="6616" y="0"/>
                </a:lnTo>
                <a:lnTo>
                  <a:pt x="661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3000240" y="3133440"/>
            <a:ext cx="1133640" cy="381600"/>
          </a:xfrm>
          <a:custGeom>
            <a:avLst/>
            <a:gdLst/>
            <a:ahLst/>
            <a:rect l="0" t="0" r="r" b="b"/>
            <a:pathLst>
              <a:path w="3149" h="1060">
                <a:moveTo>
                  <a:pt x="0" y="0"/>
                </a:moveTo>
                <a:lnTo>
                  <a:pt x="3149" y="0"/>
                </a:lnTo>
                <a:lnTo>
                  <a:pt x="314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4133520" y="3133440"/>
            <a:ext cx="1495800" cy="381600"/>
          </a:xfrm>
          <a:custGeom>
            <a:avLst/>
            <a:gdLst/>
            <a:ahLst/>
            <a:rect l="0" t="0" r="r" b="b"/>
            <a:pathLst>
              <a:path w="4155" h="1060">
                <a:moveTo>
                  <a:pt x="0" y="0"/>
                </a:moveTo>
                <a:lnTo>
                  <a:pt x="4155" y="0"/>
                </a:lnTo>
                <a:lnTo>
                  <a:pt x="415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5628960" y="3133440"/>
            <a:ext cx="1219680" cy="381600"/>
          </a:xfrm>
          <a:custGeom>
            <a:avLst/>
            <a:gdLst/>
            <a:ahLst/>
            <a:rect l="0" t="0" r="r" b="b"/>
            <a:pathLst>
              <a:path w="3388" h="1060">
                <a:moveTo>
                  <a:pt x="0" y="0"/>
                </a:moveTo>
                <a:lnTo>
                  <a:pt x="3388" y="0"/>
                </a:lnTo>
                <a:lnTo>
                  <a:pt x="338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6848280" y="3133440"/>
            <a:ext cx="1000440" cy="381600"/>
          </a:xfrm>
          <a:custGeom>
            <a:avLst/>
            <a:gdLst/>
            <a:ahLst/>
            <a:rect l="0" t="0" r="r" b="b"/>
            <a:pathLst>
              <a:path w="2779" h="1060">
                <a:moveTo>
                  <a:pt x="0" y="0"/>
                </a:moveTo>
                <a:lnTo>
                  <a:pt x="2779" y="0"/>
                </a:lnTo>
                <a:lnTo>
                  <a:pt x="277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7848360" y="3133440"/>
            <a:ext cx="2076840" cy="381600"/>
          </a:xfrm>
          <a:custGeom>
            <a:avLst/>
            <a:gdLst/>
            <a:ahLst/>
            <a:rect l="0" t="0" r="r" b="b"/>
            <a:pathLst>
              <a:path w="5769" h="1060">
                <a:moveTo>
                  <a:pt x="0" y="0"/>
                </a:moveTo>
                <a:lnTo>
                  <a:pt x="5769" y="0"/>
                </a:lnTo>
                <a:lnTo>
                  <a:pt x="576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618840" y="3514680"/>
            <a:ext cx="2381760" cy="371520"/>
          </a:xfrm>
          <a:custGeom>
            <a:avLst/>
            <a:gdLst/>
            <a:ahLst/>
            <a:rect l="0" t="0" r="r" b="b"/>
            <a:pathLst>
              <a:path w="6616" h="1032">
                <a:moveTo>
                  <a:pt x="0" y="0"/>
                </a:moveTo>
                <a:lnTo>
                  <a:pt x="6616" y="0"/>
                </a:lnTo>
                <a:lnTo>
                  <a:pt x="661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3000240" y="3514680"/>
            <a:ext cx="1133640" cy="371520"/>
          </a:xfrm>
          <a:custGeom>
            <a:avLst/>
            <a:gdLst/>
            <a:ahLst/>
            <a:rect l="0" t="0" r="r" b="b"/>
            <a:pathLst>
              <a:path w="3149" h="1032">
                <a:moveTo>
                  <a:pt x="0" y="0"/>
                </a:moveTo>
                <a:lnTo>
                  <a:pt x="3149" y="0"/>
                </a:lnTo>
                <a:lnTo>
                  <a:pt x="314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4133520" y="3514680"/>
            <a:ext cx="1495800" cy="371520"/>
          </a:xfrm>
          <a:custGeom>
            <a:avLst/>
            <a:gdLst/>
            <a:ahLst/>
            <a:rect l="0" t="0" r="r" b="b"/>
            <a:pathLst>
              <a:path w="4155" h="1032">
                <a:moveTo>
                  <a:pt x="0" y="0"/>
                </a:moveTo>
                <a:lnTo>
                  <a:pt x="4155" y="0"/>
                </a:lnTo>
                <a:lnTo>
                  <a:pt x="415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5628960" y="3514680"/>
            <a:ext cx="1219680" cy="371520"/>
          </a:xfrm>
          <a:custGeom>
            <a:avLst/>
            <a:gdLst/>
            <a:ahLst/>
            <a:rect l="0" t="0" r="r" b="b"/>
            <a:pathLst>
              <a:path w="3388" h="1032">
                <a:moveTo>
                  <a:pt x="0" y="0"/>
                </a:moveTo>
                <a:lnTo>
                  <a:pt x="3388" y="0"/>
                </a:lnTo>
                <a:lnTo>
                  <a:pt x="338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6848280" y="3514680"/>
            <a:ext cx="1000440" cy="371520"/>
          </a:xfrm>
          <a:custGeom>
            <a:avLst/>
            <a:gdLst/>
            <a:ahLst/>
            <a:rect l="0" t="0" r="r" b="b"/>
            <a:pathLst>
              <a:path w="2779" h="1032">
                <a:moveTo>
                  <a:pt x="0" y="0"/>
                </a:moveTo>
                <a:lnTo>
                  <a:pt x="2779" y="0"/>
                </a:lnTo>
                <a:lnTo>
                  <a:pt x="277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7848360" y="3514680"/>
            <a:ext cx="2076840" cy="371520"/>
          </a:xfrm>
          <a:custGeom>
            <a:avLst/>
            <a:gdLst/>
            <a:ahLst/>
            <a:rect l="0" t="0" r="r" b="b"/>
            <a:pathLst>
              <a:path w="5769" h="1032">
                <a:moveTo>
                  <a:pt x="0" y="0"/>
                </a:moveTo>
                <a:lnTo>
                  <a:pt x="5769" y="0"/>
                </a:lnTo>
                <a:lnTo>
                  <a:pt x="576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618840" y="3885840"/>
            <a:ext cx="2381760" cy="381600"/>
          </a:xfrm>
          <a:custGeom>
            <a:avLst/>
            <a:gdLst/>
            <a:ahLst/>
            <a:rect l="0" t="0" r="r" b="b"/>
            <a:pathLst>
              <a:path w="6616" h="1060">
                <a:moveTo>
                  <a:pt x="0" y="0"/>
                </a:moveTo>
                <a:lnTo>
                  <a:pt x="6616" y="0"/>
                </a:lnTo>
                <a:lnTo>
                  <a:pt x="661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3000240" y="3885840"/>
            <a:ext cx="1133640" cy="381600"/>
          </a:xfrm>
          <a:custGeom>
            <a:avLst/>
            <a:gdLst/>
            <a:ahLst/>
            <a:rect l="0" t="0" r="r" b="b"/>
            <a:pathLst>
              <a:path w="3149" h="1060">
                <a:moveTo>
                  <a:pt x="0" y="0"/>
                </a:moveTo>
                <a:lnTo>
                  <a:pt x="3149" y="0"/>
                </a:lnTo>
                <a:lnTo>
                  <a:pt x="314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4133520" y="3885840"/>
            <a:ext cx="1495800" cy="381600"/>
          </a:xfrm>
          <a:custGeom>
            <a:avLst/>
            <a:gdLst/>
            <a:ahLst/>
            <a:rect l="0" t="0" r="r" b="b"/>
            <a:pathLst>
              <a:path w="4155" h="1060">
                <a:moveTo>
                  <a:pt x="0" y="0"/>
                </a:moveTo>
                <a:lnTo>
                  <a:pt x="4155" y="0"/>
                </a:lnTo>
                <a:lnTo>
                  <a:pt x="415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5628960" y="3885840"/>
            <a:ext cx="1219680" cy="381600"/>
          </a:xfrm>
          <a:custGeom>
            <a:avLst/>
            <a:gdLst/>
            <a:ahLst/>
            <a:rect l="0" t="0" r="r" b="b"/>
            <a:pathLst>
              <a:path w="3388" h="1060">
                <a:moveTo>
                  <a:pt x="0" y="0"/>
                </a:moveTo>
                <a:lnTo>
                  <a:pt x="3388" y="0"/>
                </a:lnTo>
                <a:lnTo>
                  <a:pt x="338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6848280" y="3885840"/>
            <a:ext cx="1000440" cy="381600"/>
          </a:xfrm>
          <a:custGeom>
            <a:avLst/>
            <a:gdLst/>
            <a:ahLst/>
            <a:rect l="0" t="0" r="r" b="b"/>
            <a:pathLst>
              <a:path w="2779" h="1060">
                <a:moveTo>
                  <a:pt x="0" y="0"/>
                </a:moveTo>
                <a:lnTo>
                  <a:pt x="2779" y="0"/>
                </a:lnTo>
                <a:lnTo>
                  <a:pt x="277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7848360" y="3885840"/>
            <a:ext cx="2076840" cy="381600"/>
          </a:xfrm>
          <a:custGeom>
            <a:avLst/>
            <a:gdLst/>
            <a:ahLst/>
            <a:rect l="0" t="0" r="r" b="b"/>
            <a:pathLst>
              <a:path w="5769" h="1060">
                <a:moveTo>
                  <a:pt x="0" y="0"/>
                </a:moveTo>
                <a:lnTo>
                  <a:pt x="5769" y="0"/>
                </a:lnTo>
                <a:lnTo>
                  <a:pt x="576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609480" y="2381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609480" y="238104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3000240" y="2381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3009600" y="238104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4124160" y="2381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4133520" y="238104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5628960" y="2381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5638680" y="238104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6838920" y="2381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6848280" y="238104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7848360" y="2381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7858080" y="238104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9915480" y="2381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609480" y="2752560"/>
            <a:ext cx="2400480" cy="9720"/>
          </a:xfrm>
          <a:custGeom>
            <a:avLst/>
            <a:gdLst/>
            <a:ah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3009600" y="27525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4133520" y="275256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5638680" y="2752560"/>
            <a:ext cx="1209960" cy="9720"/>
          </a:xfrm>
          <a:custGeom>
            <a:avLst/>
            <a:gdLst/>
            <a:ahLst/>
            <a:rect l="0" t="0" r="r" b="b"/>
            <a:pathLst>
              <a:path w="3361" h="27">
                <a:moveTo>
                  <a:pt x="0" y="0"/>
                </a:moveTo>
                <a:lnTo>
                  <a:pt x="3361" y="0"/>
                </a:lnTo>
                <a:lnTo>
                  <a:pt x="33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6848280" y="275256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7858080" y="2752560"/>
            <a:ext cx="2067120" cy="9720"/>
          </a:xfrm>
          <a:custGeom>
            <a:avLst/>
            <a:gdLst/>
            <a:ah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609480" y="2761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3000240" y="2761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4124160" y="2761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5628960" y="2761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6838920" y="2761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7848360" y="2761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9915480" y="2761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60948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609480" y="313344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300024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3009600" y="313344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412416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4133520" y="313344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5628960" y="3143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5638680" y="313344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683892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6848280" y="313344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7848360" y="3143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7858080" y="313344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991548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609480" y="3514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609480" y="3504960"/>
            <a:ext cx="2400480" cy="10440"/>
          </a:xfrm>
          <a:custGeom>
            <a:avLst/>
            <a:gdLst/>
            <a:ahLst/>
            <a:rect l="0" t="0" r="r" b="b"/>
            <a:pathLst>
              <a:path w="6668" h="29">
                <a:moveTo>
                  <a:pt x="0" y="0"/>
                </a:moveTo>
                <a:lnTo>
                  <a:pt x="6668" y="0"/>
                </a:lnTo>
                <a:lnTo>
                  <a:pt x="666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3000240" y="3514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3009600" y="3504960"/>
            <a:ext cx="1124280" cy="10440"/>
          </a:xfrm>
          <a:custGeom>
            <a:avLst/>
            <a:gdLst/>
            <a:ahLst/>
            <a:rect l="0" t="0" r="r" b="b"/>
            <a:pathLst>
              <a:path w="3123" h="29">
                <a:moveTo>
                  <a:pt x="0" y="0"/>
                </a:moveTo>
                <a:lnTo>
                  <a:pt x="3123" y="0"/>
                </a:lnTo>
                <a:lnTo>
                  <a:pt x="312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4124160" y="3514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4133520" y="3504960"/>
            <a:ext cx="1505520" cy="10440"/>
          </a:xfrm>
          <a:custGeom>
            <a:avLst/>
            <a:gdLst/>
            <a:ahLst/>
            <a:rect l="0" t="0" r="r" b="b"/>
            <a:pathLst>
              <a:path w="4182" h="29">
                <a:moveTo>
                  <a:pt x="0" y="0"/>
                </a:moveTo>
                <a:lnTo>
                  <a:pt x="4182" y="0"/>
                </a:lnTo>
                <a:lnTo>
                  <a:pt x="418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5628960" y="3514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5638680" y="3504960"/>
            <a:ext cx="1209960" cy="10440"/>
          </a:xfrm>
          <a:custGeom>
            <a:avLst/>
            <a:gdLst/>
            <a:ahLst/>
            <a:rect l="0" t="0" r="r" b="b"/>
            <a:pathLst>
              <a:path w="3361" h="29">
                <a:moveTo>
                  <a:pt x="0" y="0"/>
                </a:moveTo>
                <a:lnTo>
                  <a:pt x="3361" y="0"/>
                </a:lnTo>
                <a:lnTo>
                  <a:pt x="336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6838920" y="3514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6848280" y="3504960"/>
            <a:ext cx="1010160" cy="10440"/>
          </a:xfrm>
          <a:custGeom>
            <a:avLst/>
            <a:gdLst/>
            <a:ahLst/>
            <a:rect l="0" t="0" r="r" b="b"/>
            <a:pathLst>
              <a:path w="2806" h="29">
                <a:moveTo>
                  <a:pt x="0" y="0"/>
                </a:moveTo>
                <a:lnTo>
                  <a:pt x="2806" y="0"/>
                </a:lnTo>
                <a:lnTo>
                  <a:pt x="280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7848360" y="3514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7858080" y="3504960"/>
            <a:ext cx="2067120" cy="10440"/>
          </a:xfrm>
          <a:custGeom>
            <a:avLst/>
            <a:gdLst/>
            <a:ahLst/>
            <a:rect l="0" t="0" r="r" b="b"/>
            <a:pathLst>
              <a:path w="5742" h="29">
                <a:moveTo>
                  <a:pt x="0" y="0"/>
                </a:moveTo>
                <a:lnTo>
                  <a:pt x="5742" y="0"/>
                </a:lnTo>
                <a:lnTo>
                  <a:pt x="574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9915480" y="3514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609480" y="3895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609480" y="388584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3000240" y="3895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3009600" y="388584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4124160" y="3895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4133520" y="388584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5628960" y="3895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5638680" y="388584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6838920" y="3895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6848280" y="388584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7848360" y="3895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7858080" y="388584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9915480" y="3895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609480" y="4257360"/>
            <a:ext cx="2400480" cy="10080"/>
          </a:xfrm>
          <a:custGeom>
            <a:avLst/>
            <a:gdLst/>
            <a:ah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3009600" y="42573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4133520" y="425736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5638680" y="4257360"/>
            <a:ext cx="1209960" cy="10080"/>
          </a:xfrm>
          <a:custGeom>
            <a:avLst/>
            <a:gdLst/>
            <a:ahLst/>
            <a:rect l="0" t="0" r="r" b="b"/>
            <a:pathLst>
              <a:path w="3361" h="28">
                <a:moveTo>
                  <a:pt x="0" y="0"/>
                </a:moveTo>
                <a:lnTo>
                  <a:pt x="3361" y="0"/>
                </a:lnTo>
                <a:lnTo>
                  <a:pt x="33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6848280" y="425736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7858080" y="425736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609480" y="1635480"/>
            <a:ext cx="71712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On confronte aux variables non utilisées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743040" y="2476440"/>
            <a:ext cx="59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Groupe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3133440" y="2476440"/>
            <a:ext cx="86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Population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4260240" y="2476440"/>
            <a:ext cx="1239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Revenu médian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5761440" y="2476440"/>
            <a:ext cx="950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Incinération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6972840" y="2476440"/>
            <a:ext cx="745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Stockage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7978320" y="2476440"/>
            <a:ext cx="1816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Valorisation organique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743040" y="2847960"/>
            <a:ext cx="13982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Profil intermédiaire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3394440" y="2847960"/>
            <a:ext cx="606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562 000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4849200" y="2847960"/>
            <a:ext cx="653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21 900 €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6332040" y="28479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7337520" y="28479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22 %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9409320" y="28479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15 %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743040" y="3228840"/>
            <a:ext cx="2125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Déchets verts et déchèteries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3394440" y="3228840"/>
            <a:ext cx="606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592 000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4849200" y="3228840"/>
            <a:ext cx="653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21 700 €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6332040" y="322884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21 %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 txBox="1"/>
          <p:nvPr/>
        </p:nvSpPr>
        <p:spPr>
          <a:xfrm>
            <a:off x="7337520" y="322884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18 %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9409320" y="322884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22 %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743040" y="3600360"/>
            <a:ext cx="1836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Grandes agglomérations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3254040" y="3600360"/>
            <a:ext cx="746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1 407 000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4849200" y="3600360"/>
            <a:ext cx="653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23 000 €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6332040" y="36003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49 %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7337520" y="36003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16 %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9502920" y="3600360"/>
            <a:ext cx="28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743040" y="3981600"/>
            <a:ext cx="2116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Ordures ménagères élevées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3394440" y="3981600"/>
            <a:ext cx="606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500 000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4849200" y="3981600"/>
            <a:ext cx="653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20 700 €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6332040" y="398160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20 %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7337520" y="398160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37 %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9421560" y="398160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11 %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609480" y="4462200"/>
            <a:ext cx="10055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Ces variables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n'ont pas servi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à former les groupes : on évite le raisonnement circulaire. Le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609480" y="4833720"/>
            <a:ext cx="9887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traitement suit la production : les groupes qui collectent des déchets verts les compostent.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618840" y="1914480"/>
            <a:ext cx="1276920" cy="381240"/>
          </a:xfrm>
          <a:custGeom>
            <a:avLst/>
            <a:gdLst/>
            <a:ahLst/>
            <a:rect l="0" t="0" r="r" b="b"/>
            <a:pathLst>
              <a:path w="3547" h="1059">
                <a:moveTo>
                  <a:pt x="0" y="0"/>
                </a:moveTo>
                <a:lnTo>
                  <a:pt x="3547" y="0"/>
                </a:lnTo>
                <a:lnTo>
                  <a:pt x="3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1895400" y="1914480"/>
            <a:ext cx="1333800" cy="381240"/>
          </a:xfrm>
          <a:custGeom>
            <a:avLst/>
            <a:gdLst/>
            <a:ahLst/>
            <a:rect l="0" t="0" r="r" b="b"/>
            <a:pathLst>
              <a:path w="3705" h="1059">
                <a:moveTo>
                  <a:pt x="0" y="0"/>
                </a:moveTo>
                <a:lnTo>
                  <a:pt x="3705" y="0"/>
                </a:lnTo>
                <a:lnTo>
                  <a:pt x="370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3228840" y="1914480"/>
            <a:ext cx="952920" cy="381240"/>
          </a:xfrm>
          <a:custGeom>
            <a:avLst/>
            <a:gdLst/>
            <a:ahLst/>
            <a:rect l="0" t="0" r="r" b="b"/>
            <a:pathLst>
              <a:path w="2647" h="1059">
                <a:moveTo>
                  <a:pt x="0" y="0"/>
                </a:moveTo>
                <a:lnTo>
                  <a:pt x="2647" y="0"/>
                </a:lnTo>
                <a:lnTo>
                  <a:pt x="26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4181400" y="1914480"/>
            <a:ext cx="781200" cy="381240"/>
          </a:xfrm>
          <a:custGeom>
            <a:avLst/>
            <a:gdLst/>
            <a:ahLst/>
            <a:rect l="0" t="0" r="r" b="b"/>
            <a:pathLst>
              <a:path w="2170" h="1059">
                <a:moveTo>
                  <a:pt x="0" y="0"/>
                </a:moveTo>
                <a:lnTo>
                  <a:pt x="2170" y="0"/>
                </a:lnTo>
                <a:lnTo>
                  <a:pt x="21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618840" y="1914480"/>
            <a:ext cx="1276920" cy="381240"/>
          </a:xfrm>
          <a:custGeom>
            <a:avLst/>
            <a:gdLst/>
            <a:ahLst/>
            <a:rect l="0" t="0" r="r" b="b"/>
            <a:pathLst>
              <a:path w="3547" h="1059">
                <a:moveTo>
                  <a:pt x="0" y="0"/>
                </a:moveTo>
                <a:lnTo>
                  <a:pt x="3547" y="0"/>
                </a:lnTo>
                <a:lnTo>
                  <a:pt x="3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1895400" y="1914480"/>
            <a:ext cx="1333800" cy="381240"/>
          </a:xfrm>
          <a:custGeom>
            <a:avLst/>
            <a:gdLst/>
            <a:ahLst/>
            <a:rect l="0" t="0" r="r" b="b"/>
            <a:pathLst>
              <a:path w="3705" h="1059">
                <a:moveTo>
                  <a:pt x="0" y="0"/>
                </a:moveTo>
                <a:lnTo>
                  <a:pt x="3705" y="0"/>
                </a:lnTo>
                <a:lnTo>
                  <a:pt x="370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3228840" y="1914480"/>
            <a:ext cx="952920" cy="381240"/>
          </a:xfrm>
          <a:custGeom>
            <a:avLst/>
            <a:gdLst/>
            <a:ahLst/>
            <a:rect l="0" t="0" r="r" b="b"/>
            <a:pathLst>
              <a:path w="2647" h="1059">
                <a:moveTo>
                  <a:pt x="0" y="0"/>
                </a:moveTo>
                <a:lnTo>
                  <a:pt x="2647" y="0"/>
                </a:lnTo>
                <a:lnTo>
                  <a:pt x="26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181400" y="1914480"/>
            <a:ext cx="781200" cy="381240"/>
          </a:xfrm>
          <a:custGeom>
            <a:avLst/>
            <a:gdLst/>
            <a:ahLst/>
            <a:rect l="0" t="0" r="r" b="b"/>
            <a:pathLst>
              <a:path w="2170" h="1059">
                <a:moveTo>
                  <a:pt x="0" y="0"/>
                </a:moveTo>
                <a:lnTo>
                  <a:pt x="2170" y="0"/>
                </a:lnTo>
                <a:lnTo>
                  <a:pt x="21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618840" y="2295360"/>
            <a:ext cx="1276920" cy="371880"/>
          </a:xfrm>
          <a:custGeom>
            <a:avLst/>
            <a:gdLst/>
            <a:ahLst/>
            <a:rect l="0" t="0" r="r" b="b"/>
            <a:pathLst>
              <a:path w="3547" h="1033">
                <a:moveTo>
                  <a:pt x="0" y="0"/>
                </a:moveTo>
                <a:lnTo>
                  <a:pt x="3547" y="0"/>
                </a:lnTo>
                <a:lnTo>
                  <a:pt x="35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1895400" y="2295360"/>
            <a:ext cx="1333800" cy="371880"/>
          </a:xfrm>
          <a:custGeom>
            <a:avLst/>
            <a:gdLst/>
            <a:ahLst/>
            <a:rect l="0" t="0" r="r" b="b"/>
            <a:pathLst>
              <a:path w="3705" h="1033">
                <a:moveTo>
                  <a:pt x="0" y="0"/>
                </a:moveTo>
                <a:lnTo>
                  <a:pt x="3705" y="0"/>
                </a:lnTo>
                <a:lnTo>
                  <a:pt x="370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3228840" y="229536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4181400" y="2295360"/>
            <a:ext cx="781200" cy="371880"/>
          </a:xfrm>
          <a:custGeom>
            <a:avLst/>
            <a:gdLst/>
            <a:ahLst/>
            <a:rect l="0" t="0" r="r" b="b"/>
            <a:pathLst>
              <a:path w="2170" h="1033">
                <a:moveTo>
                  <a:pt x="0" y="0"/>
                </a:moveTo>
                <a:lnTo>
                  <a:pt x="2170" y="0"/>
                </a:lnTo>
                <a:lnTo>
                  <a:pt x="21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618840" y="2666880"/>
            <a:ext cx="1276920" cy="381240"/>
          </a:xfrm>
          <a:custGeom>
            <a:avLst/>
            <a:gdLst/>
            <a:ahLst/>
            <a:rect l="0" t="0" r="r" b="b"/>
            <a:pathLst>
              <a:path w="3547" h="1059">
                <a:moveTo>
                  <a:pt x="0" y="0"/>
                </a:moveTo>
                <a:lnTo>
                  <a:pt x="3547" y="0"/>
                </a:lnTo>
                <a:lnTo>
                  <a:pt x="3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1895400" y="2666880"/>
            <a:ext cx="1333800" cy="381240"/>
          </a:xfrm>
          <a:custGeom>
            <a:avLst/>
            <a:gdLst/>
            <a:ahLst/>
            <a:rect l="0" t="0" r="r" b="b"/>
            <a:pathLst>
              <a:path w="3705" h="1059">
                <a:moveTo>
                  <a:pt x="0" y="0"/>
                </a:moveTo>
                <a:lnTo>
                  <a:pt x="3705" y="0"/>
                </a:lnTo>
                <a:lnTo>
                  <a:pt x="370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3228840" y="2666880"/>
            <a:ext cx="952920" cy="381240"/>
          </a:xfrm>
          <a:custGeom>
            <a:avLst/>
            <a:gdLst/>
            <a:ahLst/>
            <a:rect l="0" t="0" r="r" b="b"/>
            <a:pathLst>
              <a:path w="2647" h="1059">
                <a:moveTo>
                  <a:pt x="0" y="0"/>
                </a:moveTo>
                <a:lnTo>
                  <a:pt x="2647" y="0"/>
                </a:lnTo>
                <a:lnTo>
                  <a:pt x="26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4181400" y="2666880"/>
            <a:ext cx="781200" cy="381240"/>
          </a:xfrm>
          <a:custGeom>
            <a:avLst/>
            <a:gdLst/>
            <a:ahLst/>
            <a:rect l="0" t="0" r="r" b="b"/>
            <a:pathLst>
              <a:path w="2170" h="1059">
                <a:moveTo>
                  <a:pt x="0" y="0"/>
                </a:moveTo>
                <a:lnTo>
                  <a:pt x="2170" y="0"/>
                </a:lnTo>
                <a:lnTo>
                  <a:pt x="21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618840" y="3047760"/>
            <a:ext cx="1276920" cy="381240"/>
          </a:xfrm>
          <a:custGeom>
            <a:avLst/>
            <a:gdLst/>
            <a:ahLst/>
            <a:rect l="0" t="0" r="r" b="b"/>
            <a:pathLst>
              <a:path w="3547" h="1059">
                <a:moveTo>
                  <a:pt x="0" y="0"/>
                </a:moveTo>
                <a:lnTo>
                  <a:pt x="3547" y="0"/>
                </a:lnTo>
                <a:lnTo>
                  <a:pt x="3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1895400" y="3047760"/>
            <a:ext cx="1333800" cy="381240"/>
          </a:xfrm>
          <a:custGeom>
            <a:avLst/>
            <a:gdLst/>
            <a:ahLst/>
            <a:rect l="0" t="0" r="r" b="b"/>
            <a:pathLst>
              <a:path w="3705" h="1059">
                <a:moveTo>
                  <a:pt x="0" y="0"/>
                </a:moveTo>
                <a:lnTo>
                  <a:pt x="3705" y="0"/>
                </a:lnTo>
                <a:lnTo>
                  <a:pt x="370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3228840" y="3047760"/>
            <a:ext cx="952920" cy="381240"/>
          </a:xfrm>
          <a:custGeom>
            <a:avLst/>
            <a:gdLst/>
            <a:ahLst/>
            <a:rect l="0" t="0" r="r" b="b"/>
            <a:pathLst>
              <a:path w="2647" h="1059">
                <a:moveTo>
                  <a:pt x="0" y="0"/>
                </a:moveTo>
                <a:lnTo>
                  <a:pt x="2647" y="0"/>
                </a:lnTo>
                <a:lnTo>
                  <a:pt x="26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4181400" y="3047760"/>
            <a:ext cx="781200" cy="381240"/>
          </a:xfrm>
          <a:custGeom>
            <a:avLst/>
            <a:gdLst/>
            <a:ahLst/>
            <a:rect l="0" t="0" r="r" b="b"/>
            <a:pathLst>
              <a:path w="2170" h="1059">
                <a:moveTo>
                  <a:pt x="0" y="0"/>
                </a:moveTo>
                <a:lnTo>
                  <a:pt x="2170" y="0"/>
                </a:lnTo>
                <a:lnTo>
                  <a:pt x="21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618840" y="3428640"/>
            <a:ext cx="1276920" cy="371880"/>
          </a:xfrm>
          <a:custGeom>
            <a:avLst/>
            <a:gdLst/>
            <a:ahLst/>
            <a:rect l="0" t="0" r="r" b="b"/>
            <a:pathLst>
              <a:path w="3547" h="1033">
                <a:moveTo>
                  <a:pt x="0" y="0"/>
                </a:moveTo>
                <a:lnTo>
                  <a:pt x="3547" y="0"/>
                </a:lnTo>
                <a:lnTo>
                  <a:pt x="35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1895400" y="3428640"/>
            <a:ext cx="1333800" cy="371880"/>
          </a:xfrm>
          <a:custGeom>
            <a:avLst/>
            <a:gdLst/>
            <a:ahLst/>
            <a:rect l="0" t="0" r="r" b="b"/>
            <a:pathLst>
              <a:path w="3705" h="1033">
                <a:moveTo>
                  <a:pt x="0" y="0"/>
                </a:moveTo>
                <a:lnTo>
                  <a:pt x="3705" y="0"/>
                </a:lnTo>
                <a:lnTo>
                  <a:pt x="370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3228840" y="3428640"/>
            <a:ext cx="952920" cy="371880"/>
          </a:xfrm>
          <a:custGeom>
            <a:avLst/>
            <a:gdLst/>
            <a:ahLst/>
            <a:rect l="0" t="0" r="r" b="b"/>
            <a:pathLst>
              <a:path w="2647" h="1033">
                <a:moveTo>
                  <a:pt x="0" y="0"/>
                </a:moveTo>
                <a:lnTo>
                  <a:pt x="2647" y="0"/>
                </a:lnTo>
                <a:lnTo>
                  <a:pt x="26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4181400" y="3428640"/>
            <a:ext cx="781200" cy="371880"/>
          </a:xfrm>
          <a:custGeom>
            <a:avLst/>
            <a:gdLst/>
            <a:ahLst/>
            <a:rect l="0" t="0" r="r" b="b"/>
            <a:pathLst>
              <a:path w="2170" h="1033">
                <a:moveTo>
                  <a:pt x="0" y="0"/>
                </a:moveTo>
                <a:lnTo>
                  <a:pt x="2170" y="0"/>
                </a:lnTo>
                <a:lnTo>
                  <a:pt x="21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609480" y="19144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609480" y="19144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885680" y="191448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1895400" y="191448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3228840" y="19144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3238200" y="19144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4181400" y="19144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4190760" y="19144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4962240" y="19144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609480" y="22856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1895400" y="228564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3238200" y="22856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4190760" y="228564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2171" y="0"/>
                </a:lnTo>
                <a:lnTo>
                  <a:pt x="2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609480" y="2295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1885680" y="22953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3228840" y="2295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4181400" y="2295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4962240" y="22953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609480" y="2676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609480" y="26668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1885680" y="26762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1895400" y="266688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3228840" y="2676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3238200" y="26668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4181400" y="2676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4190760" y="26668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4962240" y="2676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60948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609480" y="303840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1885680" y="30477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1895400" y="303840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322884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3238200" y="30384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4181400" y="3047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4190760" y="303840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4962240" y="3047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60948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609480" y="34192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1885680" y="342864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0" y="0"/>
                </a:moveTo>
                <a:lnTo>
                  <a:pt x="29" y="0"/>
                </a:lnTo>
                <a:lnTo>
                  <a:pt x="2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1895400" y="341928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322884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3238200" y="3419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4181400" y="3428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4190760" y="34192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4962240" y="3428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609480" y="380016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1895400" y="380016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3238200" y="38001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4190760" y="380016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2171" y="0"/>
                </a:lnTo>
                <a:lnTo>
                  <a:pt x="2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609480" y="1168920"/>
            <a:ext cx="65512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La PCA : réduire de 5 à 3 dimensions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743040" y="2009880"/>
            <a:ext cx="10159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Composante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2019600" y="2009880"/>
            <a:ext cx="1090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Valeur propre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3362040" y="2009880"/>
            <a:ext cx="699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Variance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4312440" y="2009880"/>
            <a:ext cx="522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Cumul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743040" y="238140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PC1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2777040" y="238140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2,27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3530520" y="238140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44,9 %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4311720" y="238140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44,9 %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743040" y="276228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PC2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2777040" y="276228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1,33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3530520" y="276228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26,3 %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4311720" y="276228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71,3 %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743040" y="313380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PC3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2777040" y="313380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0,67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3530520" y="313380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13,2 %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4311720" y="313380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84,4 %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743040" y="351468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PC4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2777040" y="351468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0,47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3624120" y="3514680"/>
            <a:ext cx="429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9,2 %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885600" y="4114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4311720" y="3514680"/>
            <a:ext cx="5227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93,7 %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885600" y="4543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1104840" y="4005000"/>
            <a:ext cx="7214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3 composantes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coude de l'éboulis et règle des 80–90 % (84 %)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885600" y="4981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1104840" y="4433760"/>
            <a:ext cx="74160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PC1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le tri et les apports en déchèterie, face à la poubelle ordinaire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885600" y="5410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1104840" y="4871880"/>
            <a:ext cx="6129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PC2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le volume d'ordures ménagères et d'encombrants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1104840" y="5300280"/>
            <a:ext cx="7111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PC3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les déchets verts, face au tri des emballages et dangereux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609480" y="1447560"/>
            <a:ext cx="5353200" cy="3905640"/>
          </a:xfrm>
          <a:custGeom>
            <a:avLst/>
            <a:gdLst/>
            <a:ahLst/>
            <a:rect l="0" t="0" r="r" b="b"/>
            <a:pathLst>
              <a:path w="14870" h="10849">
                <a:moveTo>
                  <a:pt x="0" y="0"/>
                </a:moveTo>
                <a:lnTo>
                  <a:pt x="14870" y="0"/>
                </a:lnTo>
                <a:lnTo>
                  <a:pt x="14870" y="10849"/>
                </a:lnTo>
                <a:lnTo>
                  <a:pt x="0" y="108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43" name=""/>
          <p:cNvPicPr/>
          <p:nvPr/>
        </p:nvPicPr>
        <p:blipFill>
          <a:blip r:embed="rId1"/>
          <a:stretch/>
        </p:blipFill>
        <p:spPr>
          <a:xfrm>
            <a:off x="609480" y="1447920"/>
            <a:ext cx="5352840" cy="390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4" name=""/>
          <p:cNvSpPr/>
          <p:nvPr/>
        </p:nvSpPr>
        <p:spPr>
          <a:xfrm>
            <a:off x="6229080" y="1447560"/>
            <a:ext cx="5353560" cy="3905640"/>
          </a:xfrm>
          <a:custGeom>
            <a:avLst/>
            <a:gdLst/>
            <a:ahLst/>
            <a:rect l="0" t="0" r="r" b="b"/>
            <a:pathLst>
              <a:path w="14871" h="10849">
                <a:moveTo>
                  <a:pt x="0" y="0"/>
                </a:moveTo>
                <a:lnTo>
                  <a:pt x="14871" y="0"/>
                </a:lnTo>
                <a:lnTo>
                  <a:pt x="14871" y="10849"/>
                </a:lnTo>
                <a:lnTo>
                  <a:pt x="0" y="108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45" name=""/>
          <p:cNvPicPr/>
          <p:nvPr/>
        </p:nvPicPr>
        <p:blipFill>
          <a:blip r:embed="rId2"/>
          <a:stretch/>
        </p:blipFill>
        <p:spPr>
          <a:xfrm>
            <a:off x="6229440" y="1447920"/>
            <a:ext cx="5352840" cy="390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6" name=""/>
          <p:cNvSpPr txBox="1"/>
          <p:nvPr/>
        </p:nvSpPr>
        <p:spPr>
          <a:xfrm>
            <a:off x="609480" y="702000"/>
            <a:ext cx="62834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Les groupes sur les axes de la PCA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609480" y="5395680"/>
            <a:ext cx="9556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Chaque groupe occupe sa zone : agglomérations à gauche (peu de tri), Ouest à droite,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609480" y="5767200"/>
            <a:ext cx="8283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Méditerranée en haut.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Les groupes ne sont pas un artefact du k-means.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618840" y="1923840"/>
            <a:ext cx="2915280" cy="381240"/>
          </a:xfrm>
          <a:custGeom>
            <a:avLst/>
            <a:gdLst/>
            <a:ahLst/>
            <a:rect l="0" t="0" r="r" b="b"/>
            <a:pathLst>
              <a:path w="8098" h="1059">
                <a:moveTo>
                  <a:pt x="0" y="0"/>
                </a:moveTo>
                <a:lnTo>
                  <a:pt x="8098" y="0"/>
                </a:lnTo>
                <a:lnTo>
                  <a:pt x="809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3533760" y="1923840"/>
            <a:ext cx="2171880" cy="381240"/>
          </a:xfrm>
          <a:custGeom>
            <a:avLst/>
            <a:gdLst/>
            <a:ahLst/>
            <a:rect l="0" t="0" r="r" b="b"/>
            <a:pathLst>
              <a:path w="6033" h="1059">
                <a:moveTo>
                  <a:pt x="0" y="0"/>
                </a:moveTo>
                <a:lnTo>
                  <a:pt x="6033" y="0"/>
                </a:lnTo>
                <a:lnTo>
                  <a:pt x="60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5705280" y="192384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618840" y="1923840"/>
            <a:ext cx="2915280" cy="381240"/>
          </a:xfrm>
          <a:custGeom>
            <a:avLst/>
            <a:gdLst/>
            <a:ahLst/>
            <a:rect l="0" t="0" r="r" b="b"/>
            <a:pathLst>
              <a:path w="8098" h="1059">
                <a:moveTo>
                  <a:pt x="0" y="0"/>
                </a:moveTo>
                <a:lnTo>
                  <a:pt x="8098" y="0"/>
                </a:lnTo>
                <a:lnTo>
                  <a:pt x="809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3533760" y="1923840"/>
            <a:ext cx="2171880" cy="381240"/>
          </a:xfrm>
          <a:custGeom>
            <a:avLst/>
            <a:gdLst/>
            <a:ahLst/>
            <a:rect l="0" t="0" r="r" b="b"/>
            <a:pathLst>
              <a:path w="6033" h="1059">
                <a:moveTo>
                  <a:pt x="0" y="0"/>
                </a:moveTo>
                <a:lnTo>
                  <a:pt x="6033" y="0"/>
                </a:lnTo>
                <a:lnTo>
                  <a:pt x="60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5705280" y="192384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618840" y="2304720"/>
            <a:ext cx="2915280" cy="381600"/>
          </a:xfrm>
          <a:custGeom>
            <a:avLst/>
            <a:gdLst/>
            <a:ahLst/>
            <a:rect l="0" t="0" r="r" b="b"/>
            <a:pathLst>
              <a:path w="8098" h="1060">
                <a:moveTo>
                  <a:pt x="0" y="0"/>
                </a:moveTo>
                <a:lnTo>
                  <a:pt x="8098" y="0"/>
                </a:lnTo>
                <a:lnTo>
                  <a:pt x="809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3533760" y="2304720"/>
            <a:ext cx="2171880" cy="381600"/>
          </a:xfrm>
          <a:custGeom>
            <a:avLst/>
            <a:gdLst/>
            <a:ahLst/>
            <a:rect l="0" t="0" r="r" b="b"/>
            <a:pathLst>
              <a:path w="6033" h="1060">
                <a:moveTo>
                  <a:pt x="0" y="0"/>
                </a:moveTo>
                <a:lnTo>
                  <a:pt x="6033" y="0"/>
                </a:lnTo>
                <a:lnTo>
                  <a:pt x="603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5705280" y="2304720"/>
            <a:ext cx="1286280" cy="381600"/>
          </a:xfrm>
          <a:custGeom>
            <a:avLst/>
            <a:gdLst/>
            <a:ahLst/>
            <a:rect l="0" t="0" r="r" b="b"/>
            <a:pathLst>
              <a:path w="3573" h="1060">
                <a:moveTo>
                  <a:pt x="0" y="0"/>
                </a:moveTo>
                <a:lnTo>
                  <a:pt x="3573" y="0"/>
                </a:lnTo>
                <a:lnTo>
                  <a:pt x="357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618840" y="2685960"/>
            <a:ext cx="2915280" cy="371880"/>
          </a:xfrm>
          <a:custGeom>
            <a:avLst/>
            <a:gdLst/>
            <a:ahLst/>
            <a:rect l="0" t="0" r="r" b="b"/>
            <a:pathLst>
              <a:path w="8098" h="1033">
                <a:moveTo>
                  <a:pt x="0" y="0"/>
                </a:moveTo>
                <a:lnTo>
                  <a:pt x="8098" y="0"/>
                </a:lnTo>
                <a:lnTo>
                  <a:pt x="809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3533760" y="2685960"/>
            <a:ext cx="2171880" cy="371880"/>
          </a:xfrm>
          <a:custGeom>
            <a:avLst/>
            <a:gdLst/>
            <a:ahLst/>
            <a:rect l="0" t="0" r="r" b="b"/>
            <a:pathLst>
              <a:path w="6033" h="1033">
                <a:moveTo>
                  <a:pt x="0" y="0"/>
                </a:moveTo>
                <a:lnTo>
                  <a:pt x="6033" y="0"/>
                </a:lnTo>
                <a:lnTo>
                  <a:pt x="60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5705280" y="26859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618840" y="3057480"/>
            <a:ext cx="2915280" cy="381240"/>
          </a:xfrm>
          <a:custGeom>
            <a:avLst/>
            <a:gdLst/>
            <a:ahLst/>
            <a:rect l="0" t="0" r="r" b="b"/>
            <a:pathLst>
              <a:path w="8098" h="1059">
                <a:moveTo>
                  <a:pt x="0" y="0"/>
                </a:moveTo>
                <a:lnTo>
                  <a:pt x="8098" y="0"/>
                </a:lnTo>
                <a:lnTo>
                  <a:pt x="809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3533760" y="3057480"/>
            <a:ext cx="2171880" cy="381240"/>
          </a:xfrm>
          <a:custGeom>
            <a:avLst/>
            <a:gdLst/>
            <a:ahLst/>
            <a:rect l="0" t="0" r="r" b="b"/>
            <a:pathLst>
              <a:path w="6033" h="1059">
                <a:moveTo>
                  <a:pt x="0" y="0"/>
                </a:moveTo>
                <a:lnTo>
                  <a:pt x="6033" y="0"/>
                </a:lnTo>
                <a:lnTo>
                  <a:pt x="60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5705280" y="305748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618840" y="3438360"/>
            <a:ext cx="2915280" cy="371880"/>
          </a:xfrm>
          <a:custGeom>
            <a:avLst/>
            <a:gdLst/>
            <a:ahLst/>
            <a:rect l="0" t="0" r="r" b="b"/>
            <a:pathLst>
              <a:path w="8098" h="1033">
                <a:moveTo>
                  <a:pt x="0" y="0"/>
                </a:moveTo>
                <a:lnTo>
                  <a:pt x="8098" y="0"/>
                </a:lnTo>
                <a:lnTo>
                  <a:pt x="809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3533760" y="3438360"/>
            <a:ext cx="2171880" cy="371880"/>
          </a:xfrm>
          <a:custGeom>
            <a:avLst/>
            <a:gdLst/>
            <a:ahLst/>
            <a:rect l="0" t="0" r="r" b="b"/>
            <a:pathLst>
              <a:path w="6033" h="1033">
                <a:moveTo>
                  <a:pt x="0" y="0"/>
                </a:moveTo>
                <a:lnTo>
                  <a:pt x="6033" y="0"/>
                </a:lnTo>
                <a:lnTo>
                  <a:pt x="603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5705280" y="34383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609480" y="1923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609480" y="1923840"/>
            <a:ext cx="2934000" cy="10080"/>
          </a:xfrm>
          <a:custGeom>
            <a:avLst/>
            <a:gdLst/>
            <a:ahLst/>
            <a:rect l="0" t="0" r="r" b="b"/>
            <a:pathLst>
              <a:path w="8150" h="28">
                <a:moveTo>
                  <a:pt x="0" y="0"/>
                </a:moveTo>
                <a:lnTo>
                  <a:pt x="8150" y="0"/>
                </a:lnTo>
                <a:lnTo>
                  <a:pt x="8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3533760" y="1923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3543120" y="1923840"/>
            <a:ext cx="2162520" cy="10080"/>
          </a:xfrm>
          <a:custGeom>
            <a:avLst/>
            <a:gdLst/>
            <a:ahLst/>
            <a:rect l="0" t="0" r="r" b="b"/>
            <a:pathLst>
              <a:path w="6007" h="28">
                <a:moveTo>
                  <a:pt x="0" y="0"/>
                </a:moveTo>
                <a:lnTo>
                  <a:pt x="6007" y="0"/>
                </a:lnTo>
                <a:lnTo>
                  <a:pt x="60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5695920" y="1923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5705280" y="19238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6981480" y="1923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609480" y="2304720"/>
            <a:ext cx="2934000" cy="10080"/>
          </a:xfrm>
          <a:custGeom>
            <a:avLst/>
            <a:gdLst/>
            <a:ahLst/>
            <a:rect l="0" t="0" r="r" b="b"/>
            <a:pathLst>
              <a:path w="8150" h="28">
                <a:moveTo>
                  <a:pt x="0" y="0"/>
                </a:moveTo>
                <a:lnTo>
                  <a:pt x="8150" y="0"/>
                </a:lnTo>
                <a:lnTo>
                  <a:pt x="8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3543120" y="2304720"/>
            <a:ext cx="2162520" cy="10080"/>
          </a:xfrm>
          <a:custGeom>
            <a:avLst/>
            <a:gdLst/>
            <a:ahLst/>
            <a:rect l="0" t="0" r="r" b="b"/>
            <a:pathLst>
              <a:path w="6007" h="28">
                <a:moveTo>
                  <a:pt x="0" y="0"/>
                </a:moveTo>
                <a:lnTo>
                  <a:pt x="6007" y="0"/>
                </a:lnTo>
                <a:lnTo>
                  <a:pt x="60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5705280" y="230472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609480" y="2314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3533760" y="2314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5695920" y="2314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6981480" y="2314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609480" y="2685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609480" y="2676240"/>
            <a:ext cx="2934000" cy="10080"/>
          </a:xfrm>
          <a:custGeom>
            <a:avLst/>
            <a:gdLst/>
            <a:ahLst/>
            <a:rect l="0" t="0" r="r" b="b"/>
            <a:pathLst>
              <a:path w="8150" h="28">
                <a:moveTo>
                  <a:pt x="0" y="0"/>
                </a:moveTo>
                <a:lnTo>
                  <a:pt x="8150" y="0"/>
                </a:lnTo>
                <a:lnTo>
                  <a:pt x="8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3533760" y="2685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3543120" y="2676240"/>
            <a:ext cx="2162520" cy="10080"/>
          </a:xfrm>
          <a:custGeom>
            <a:avLst/>
            <a:gdLst/>
            <a:ahLst/>
            <a:rect l="0" t="0" r="r" b="b"/>
            <a:pathLst>
              <a:path w="6007" h="28">
                <a:moveTo>
                  <a:pt x="0" y="0"/>
                </a:moveTo>
                <a:lnTo>
                  <a:pt x="6007" y="0"/>
                </a:lnTo>
                <a:lnTo>
                  <a:pt x="60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5695920" y="2685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5705280" y="26762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6981480" y="2685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609480" y="3066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609480" y="305748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3533760" y="3066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3543120" y="305748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5695920" y="3066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5705280" y="30574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6981480" y="30668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609480" y="3438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609480" y="3428640"/>
            <a:ext cx="2934000" cy="10080"/>
          </a:xfrm>
          <a:custGeom>
            <a:avLst/>
            <a:gdLst/>
            <a:ahLst/>
            <a:rect l="0" t="0" r="r" b="b"/>
            <a:pathLst>
              <a:path w="8150" h="28">
                <a:moveTo>
                  <a:pt x="0" y="0"/>
                </a:moveTo>
                <a:lnTo>
                  <a:pt x="8150" y="0"/>
                </a:lnTo>
                <a:lnTo>
                  <a:pt x="8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3533760" y="3438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3543120" y="3428640"/>
            <a:ext cx="2162520" cy="10080"/>
          </a:xfrm>
          <a:custGeom>
            <a:avLst/>
            <a:gdLst/>
            <a:ahLst/>
            <a:rect l="0" t="0" r="r" b="b"/>
            <a:pathLst>
              <a:path w="6007" h="28">
                <a:moveTo>
                  <a:pt x="0" y="0"/>
                </a:moveTo>
                <a:lnTo>
                  <a:pt x="6007" y="0"/>
                </a:lnTo>
                <a:lnTo>
                  <a:pt x="60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5695920" y="3438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5705280" y="34286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6981480" y="34383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609480" y="3809880"/>
            <a:ext cx="2934000" cy="9720"/>
          </a:xfrm>
          <a:custGeom>
            <a:avLst/>
            <a:gdLst/>
            <a:ahLst/>
            <a:rect l="0" t="0" r="r" b="b"/>
            <a:pathLst>
              <a:path w="8150" h="27">
                <a:moveTo>
                  <a:pt x="0" y="0"/>
                </a:moveTo>
                <a:lnTo>
                  <a:pt x="8150" y="0"/>
                </a:lnTo>
                <a:lnTo>
                  <a:pt x="8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3543120" y="3809880"/>
            <a:ext cx="2162520" cy="9720"/>
          </a:xfrm>
          <a:custGeom>
            <a:avLst/>
            <a:gdLst/>
            <a:ahLst/>
            <a:rect l="0" t="0" r="r" b="b"/>
            <a:pathLst>
              <a:path w="6007" h="27">
                <a:moveTo>
                  <a:pt x="0" y="0"/>
                </a:moveTo>
                <a:lnTo>
                  <a:pt x="6007" y="0"/>
                </a:lnTo>
                <a:lnTo>
                  <a:pt x="60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5705280" y="38098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609480" y="1178280"/>
            <a:ext cx="53524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Les groupes sont-ils solides ?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743040" y="2019240"/>
            <a:ext cx="438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Essai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3666240" y="2019240"/>
            <a:ext cx="19011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ARI avec nos 4 groupes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6048000" y="2019240"/>
            <a:ext cx="811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Silhouette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743040" y="2400120"/>
            <a:ext cx="2032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k-means, 10 autres graines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4732560" y="2400120"/>
            <a:ext cx="8395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0,81 à 1,00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5832000" y="2400120"/>
            <a:ext cx="1026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0,312 à 0,319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743040" y="2771640"/>
            <a:ext cx="2283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Clustering hiérarchique (Ward)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5247000" y="277164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0,82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6440400" y="277164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0,315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743040" y="3152880"/>
            <a:ext cx="1886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k-means sans l'outre-mer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5247000" y="3152880"/>
            <a:ext cx="326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0,65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6440400" y="315288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0,291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743040" y="3524400"/>
            <a:ext cx="2656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Clustering du traitement (supervisé)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5153400" y="3524400"/>
            <a:ext cx="420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0,006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885600" y="41241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6693120" y="3524400"/>
            <a:ext cx="168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—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885600" y="4552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1104840" y="4014360"/>
            <a:ext cx="8022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Stables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d'une graine à l'autre : seule la frontière « déchets verts » bouge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885600" y="49910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1104840" y="4443120"/>
            <a:ext cx="7144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Sans l'outre-mer : les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cœurs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restent, les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frontières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se déplacent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1104840" y="4881240"/>
            <a:ext cx="9983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ARI 0,006 : production et traitement sont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indépendants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, ils ne devaient pas être mélangés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609480" y="5386680"/>
            <a:ext cx="4307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7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ARI : 1 = mêmes groupes, 0 = pas mieux que le hasard.</a:t>
            </a:r>
            <a:endParaRPr lang="fr-FR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609480" y="816480"/>
            <a:ext cx="86792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Deux autres méthodes : hiérarchique et DBSCAN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609480" y="1604520"/>
            <a:ext cx="36446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Clustering hiérarchique (Ward)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609480" y="1976040"/>
            <a:ext cx="4757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Grands sauts de hauteur jusqu'à 4 groupes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609480" y="2347560"/>
            <a:ext cx="5151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(4,07 → 2,50 → 2,19), puis effondrement (0,58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609480" y="2719080"/>
            <a:ext cx="52740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→ 0,02)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4 est la coupe la plus fine qui ait un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609480" y="3571560"/>
            <a:ext cx="4953240" cy="2153160"/>
          </a:xfrm>
          <a:custGeom>
            <a:avLst/>
            <a:gdLst/>
            <a:ahLst/>
            <a:rect l="0" t="0" r="r" b="b"/>
            <a:pathLst>
              <a:path w="13759" h="5981">
                <a:moveTo>
                  <a:pt x="0" y="0"/>
                </a:moveTo>
                <a:lnTo>
                  <a:pt x="13759" y="0"/>
                </a:lnTo>
                <a:lnTo>
                  <a:pt x="13759" y="5981"/>
                </a:lnTo>
                <a:lnTo>
                  <a:pt x="0" y="59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44" name=""/>
          <p:cNvPicPr/>
          <p:nvPr/>
        </p:nvPicPr>
        <p:blipFill>
          <a:blip r:embed="rId1"/>
          <a:stretch/>
        </p:blipFill>
        <p:spPr>
          <a:xfrm>
            <a:off x="609480" y="3571920"/>
            <a:ext cx="4952520" cy="215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5" name=""/>
          <p:cNvSpPr txBox="1"/>
          <p:nvPr/>
        </p:nvSpPr>
        <p:spPr>
          <a:xfrm>
            <a:off x="609480" y="3090600"/>
            <a:ext cx="636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sens.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6229440" y="1604520"/>
            <a:ext cx="3631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DBSCAN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(MinPts = 10, ε = 2,53)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 txBox="1"/>
          <p:nvPr/>
        </p:nvSpPr>
        <p:spPr>
          <a:xfrm>
            <a:off x="6229440" y="1976040"/>
            <a:ext cx="4846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Un seul groupe dense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et 2 points de bruit :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6229440" y="2347560"/>
            <a:ext cx="4736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Landes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et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Guadeloupe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. Aucun réglage ne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6229440" y="2719080"/>
            <a:ext cx="2658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donne plus d'un groupe.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6229440" y="3242880"/>
            <a:ext cx="4970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→ Les départements forment un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continuum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6229440" y="3614400"/>
            <a:ext cx="5303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pas des îlots. Les 4 profils sont des découpages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6229440" y="3985920"/>
            <a:ext cx="26996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utiles d'un même nuage.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8" name=""/>
          <p:cNvPicPr/>
          <p:nvPr/>
        </p:nvPicPr>
        <p:blipFill>
          <a:blip r:embed="rId1"/>
          <a:stretch/>
        </p:blipFill>
        <p:spPr>
          <a:xfrm>
            <a:off x="6095880" y="819000"/>
            <a:ext cx="6095520" cy="52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9" name=""/>
          <p:cNvSpPr txBox="1"/>
          <p:nvPr/>
        </p:nvSpPr>
        <p:spPr>
          <a:xfrm>
            <a:off x="609480" y="1168920"/>
            <a:ext cx="35956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Où les groupes sont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885600" y="2533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609480" y="1635480"/>
            <a:ext cx="13233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fragiles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1104840" y="2423880"/>
            <a:ext cx="3783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Cohérents : intermédiaire (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0,39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) et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885600" y="3333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1104840" y="2795400"/>
            <a:ext cx="2417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agglomérations (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0,34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1104840" y="3223800"/>
            <a:ext cx="42116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Fragiles : déchets verts (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0,14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) et OMR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885600" y="4143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1" y="190"/>
                  <a:pt x="159" y="198"/>
                  <a:pt x="146" y="204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4"/>
                </a:cubicBezTo>
                <a:cubicBezTo>
                  <a:pt x="52" y="198"/>
                  <a:pt x="41" y="190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1104840" y="3595320"/>
            <a:ext cx="15750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élevées (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0,16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1104840" y="4033440"/>
            <a:ext cx="4281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4 cas frontières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(silhouette négative) :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1104840" y="4404960"/>
            <a:ext cx="3908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Aude, Loiret, Vendée, Territoire-de-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1104840" y="4776480"/>
            <a:ext cx="718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Belfort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609480" y="5300280"/>
            <a:ext cx="267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À ne pas sur-interpréter.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609480" y="2437920"/>
            <a:ext cx="17902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Partie 4</a:t>
            </a:r>
            <a:endParaRPr lang="fr-FR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609480" y="3439800"/>
            <a:ext cx="55800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1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Prise de recul : conclusions, limites, pistes</a:t>
            </a:r>
            <a:endParaRPr lang="fr-FR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609480" y="4043160"/>
            <a:ext cx="1077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 minutes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CFE8E1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885600" y="2495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609480" y="1607040"/>
            <a:ext cx="33742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Ce qu'il faut retenir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885600" y="29336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1104840" y="2385720"/>
            <a:ext cx="101426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Supervisé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prédire revient presque à recopier l'enquête précédente (R² 0,716 contre 0,702)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885600" y="3362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 txBox="1"/>
          <p:nvPr/>
        </p:nvSpPr>
        <p:spPr>
          <a:xfrm>
            <a:off x="1104840" y="2823840"/>
            <a:ext cx="9873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Non supervisé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4 profils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de départements, géographiques, retrouvés sans coordonnées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885600" y="38001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1104840" y="3252600"/>
            <a:ext cx="98755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Deux facteurs semblent structurer la carte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 type d'habitat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et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le tourisme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(hypothèses)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1104840" y="3690720"/>
            <a:ext cx="100800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profils expliquent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pourquoi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les niveaux diffèrent durablement ; la prédiction montre que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885600" y="4600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1" y="190"/>
                  <a:pt x="159" y="199"/>
                  <a:pt x="146" y="204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4"/>
                </a:cubicBezTo>
                <a:cubicBezTo>
                  <a:pt x="52" y="199"/>
                  <a:pt x="41" y="190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621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1104840" y="4062240"/>
            <a:ext cx="2872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ces niveaux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bougent peu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1104840" y="4490640"/>
            <a:ext cx="10400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Aucun profil n'est « meilleur »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les agglomérations produisent le moins mais trient le moins ;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1104840" y="4862160"/>
            <a:ext cx="4494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l'Ouest produit beaucoup mais composte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618840" y="1933560"/>
            <a:ext cx="3076920" cy="381240"/>
          </a:xfrm>
          <a:custGeom>
            <a:avLst/>
            <a:gdLst/>
            <a:ahLst/>
            <a:rect l="0" t="0" r="r" b="b"/>
            <a:pathLst>
              <a:path w="8547" h="1059">
                <a:moveTo>
                  <a:pt x="0" y="0"/>
                </a:moveTo>
                <a:lnTo>
                  <a:pt x="8547" y="0"/>
                </a:lnTo>
                <a:lnTo>
                  <a:pt x="8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3695400" y="1933560"/>
            <a:ext cx="1238760" cy="381240"/>
          </a:xfrm>
          <a:custGeom>
            <a:avLst/>
            <a:gdLst/>
            <a:ahLst/>
            <a:rect l="0" t="0" r="r" b="b"/>
            <a:pathLst>
              <a:path w="3441" h="1059">
                <a:moveTo>
                  <a:pt x="0" y="0"/>
                </a:moveTo>
                <a:lnTo>
                  <a:pt x="3441" y="0"/>
                </a:lnTo>
                <a:lnTo>
                  <a:pt x="34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4933800" y="1933560"/>
            <a:ext cx="1238400" cy="381240"/>
          </a:xfrm>
          <a:custGeom>
            <a:avLst/>
            <a:gdLst/>
            <a:ahLst/>
            <a:rect l="0" t="0" r="r" b="b"/>
            <a:pathLst>
              <a:path w="3440" h="1059">
                <a:moveTo>
                  <a:pt x="0" y="0"/>
                </a:moveTo>
                <a:lnTo>
                  <a:pt x="3440" y="0"/>
                </a:lnTo>
                <a:lnTo>
                  <a:pt x="34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618840" y="1933560"/>
            <a:ext cx="3076920" cy="381240"/>
          </a:xfrm>
          <a:custGeom>
            <a:avLst/>
            <a:gdLst/>
            <a:ahLst/>
            <a:rect l="0" t="0" r="r" b="b"/>
            <a:pathLst>
              <a:path w="8547" h="1059">
                <a:moveTo>
                  <a:pt x="0" y="0"/>
                </a:moveTo>
                <a:lnTo>
                  <a:pt x="8547" y="0"/>
                </a:lnTo>
                <a:lnTo>
                  <a:pt x="8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3695400" y="1933560"/>
            <a:ext cx="1238760" cy="381240"/>
          </a:xfrm>
          <a:custGeom>
            <a:avLst/>
            <a:gdLst/>
            <a:ahLst/>
            <a:rect l="0" t="0" r="r" b="b"/>
            <a:pathLst>
              <a:path w="3441" h="1059">
                <a:moveTo>
                  <a:pt x="0" y="0"/>
                </a:moveTo>
                <a:lnTo>
                  <a:pt x="3441" y="0"/>
                </a:lnTo>
                <a:lnTo>
                  <a:pt x="34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4933800" y="1933560"/>
            <a:ext cx="1238400" cy="381240"/>
          </a:xfrm>
          <a:custGeom>
            <a:avLst/>
            <a:gdLst/>
            <a:ahLst/>
            <a:rect l="0" t="0" r="r" b="b"/>
            <a:pathLst>
              <a:path w="3440" h="1059">
                <a:moveTo>
                  <a:pt x="0" y="0"/>
                </a:moveTo>
                <a:lnTo>
                  <a:pt x="3440" y="0"/>
                </a:lnTo>
                <a:lnTo>
                  <a:pt x="34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18840" y="2314440"/>
            <a:ext cx="3076920" cy="371880"/>
          </a:xfrm>
          <a:custGeom>
            <a:avLst/>
            <a:gdLst/>
            <a:ahLst/>
            <a:rect l="0" t="0" r="r" b="b"/>
            <a:pathLst>
              <a:path w="8547" h="1033">
                <a:moveTo>
                  <a:pt x="0" y="0"/>
                </a:moveTo>
                <a:lnTo>
                  <a:pt x="8547" y="0"/>
                </a:lnTo>
                <a:lnTo>
                  <a:pt x="85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3695400" y="2314440"/>
            <a:ext cx="1238760" cy="371880"/>
          </a:xfrm>
          <a:custGeom>
            <a:avLst/>
            <a:gdLst/>
            <a:ahLst/>
            <a:rect l="0" t="0" r="r" b="b"/>
            <a:pathLst>
              <a:path w="3441" h="1033">
                <a:moveTo>
                  <a:pt x="0" y="0"/>
                </a:moveTo>
                <a:lnTo>
                  <a:pt x="3441" y="0"/>
                </a:lnTo>
                <a:lnTo>
                  <a:pt x="34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4933800" y="2314440"/>
            <a:ext cx="1238400" cy="371880"/>
          </a:xfrm>
          <a:custGeom>
            <a:avLst/>
            <a:gdLst/>
            <a:ahLst/>
            <a:rect l="0" t="0" r="r" b="b"/>
            <a:pathLst>
              <a:path w="3440" h="1033">
                <a:moveTo>
                  <a:pt x="0" y="0"/>
                </a:moveTo>
                <a:lnTo>
                  <a:pt x="3440" y="0"/>
                </a:lnTo>
                <a:lnTo>
                  <a:pt x="344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618840" y="2685960"/>
            <a:ext cx="3076920" cy="381240"/>
          </a:xfrm>
          <a:custGeom>
            <a:avLst/>
            <a:gdLst/>
            <a:ahLst/>
            <a:rect l="0" t="0" r="r" b="b"/>
            <a:pathLst>
              <a:path w="8547" h="1059">
                <a:moveTo>
                  <a:pt x="0" y="0"/>
                </a:moveTo>
                <a:lnTo>
                  <a:pt x="8547" y="0"/>
                </a:lnTo>
                <a:lnTo>
                  <a:pt x="8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3695400" y="2685960"/>
            <a:ext cx="1238760" cy="381240"/>
          </a:xfrm>
          <a:custGeom>
            <a:avLst/>
            <a:gdLst/>
            <a:ahLst/>
            <a:rect l="0" t="0" r="r" b="b"/>
            <a:pathLst>
              <a:path w="3441" h="1059">
                <a:moveTo>
                  <a:pt x="0" y="0"/>
                </a:moveTo>
                <a:lnTo>
                  <a:pt x="3441" y="0"/>
                </a:lnTo>
                <a:lnTo>
                  <a:pt x="34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4933800" y="2685960"/>
            <a:ext cx="1238400" cy="381240"/>
          </a:xfrm>
          <a:custGeom>
            <a:avLst/>
            <a:gdLst/>
            <a:ahLst/>
            <a:rect l="0" t="0" r="r" b="b"/>
            <a:pathLst>
              <a:path w="3440" h="1059">
                <a:moveTo>
                  <a:pt x="0" y="0"/>
                </a:moveTo>
                <a:lnTo>
                  <a:pt x="3440" y="0"/>
                </a:lnTo>
                <a:lnTo>
                  <a:pt x="34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618840" y="3066840"/>
            <a:ext cx="3076920" cy="381240"/>
          </a:xfrm>
          <a:custGeom>
            <a:avLst/>
            <a:gdLst/>
            <a:ahLst/>
            <a:rect l="0" t="0" r="r" b="b"/>
            <a:pathLst>
              <a:path w="8547" h="1059">
                <a:moveTo>
                  <a:pt x="0" y="0"/>
                </a:moveTo>
                <a:lnTo>
                  <a:pt x="8547" y="0"/>
                </a:lnTo>
                <a:lnTo>
                  <a:pt x="854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3695400" y="3066840"/>
            <a:ext cx="1238760" cy="381240"/>
          </a:xfrm>
          <a:custGeom>
            <a:avLst/>
            <a:gdLst/>
            <a:ahLst/>
            <a:rect l="0" t="0" r="r" b="b"/>
            <a:pathLst>
              <a:path w="3441" h="1059">
                <a:moveTo>
                  <a:pt x="0" y="0"/>
                </a:moveTo>
                <a:lnTo>
                  <a:pt x="3441" y="0"/>
                </a:lnTo>
                <a:lnTo>
                  <a:pt x="34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4933800" y="3066840"/>
            <a:ext cx="1238400" cy="381240"/>
          </a:xfrm>
          <a:custGeom>
            <a:avLst/>
            <a:gdLst/>
            <a:ahLst/>
            <a:rect l="0" t="0" r="r" b="b"/>
            <a:pathLst>
              <a:path w="3440" h="1059">
                <a:moveTo>
                  <a:pt x="0" y="0"/>
                </a:moveTo>
                <a:lnTo>
                  <a:pt x="3440" y="0"/>
                </a:lnTo>
                <a:lnTo>
                  <a:pt x="34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609480" y="1933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609480" y="1933560"/>
            <a:ext cx="3096000" cy="9720"/>
          </a:xfrm>
          <a:custGeom>
            <a:avLst/>
            <a:gdLst/>
            <a:ahLst/>
            <a:rect l="0" t="0" r="r" b="b"/>
            <a:pathLst>
              <a:path w="8600" h="27">
                <a:moveTo>
                  <a:pt x="0" y="0"/>
                </a:moveTo>
                <a:lnTo>
                  <a:pt x="8600" y="0"/>
                </a:lnTo>
                <a:lnTo>
                  <a:pt x="8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3695400" y="19335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3705120" y="193356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4924080" y="19335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4933800" y="193356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6162480" y="1933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609480" y="2304720"/>
            <a:ext cx="3096000" cy="10080"/>
          </a:xfrm>
          <a:custGeom>
            <a:avLst/>
            <a:gdLst/>
            <a:ahLst/>
            <a:rect l="0" t="0" r="r" b="b"/>
            <a:pathLst>
              <a:path w="8600" h="28">
                <a:moveTo>
                  <a:pt x="0" y="0"/>
                </a:moveTo>
                <a:lnTo>
                  <a:pt x="8600" y="0"/>
                </a:lnTo>
                <a:lnTo>
                  <a:pt x="8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3705120" y="230472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4933800" y="2304720"/>
            <a:ext cx="1238400" cy="10080"/>
          </a:xfrm>
          <a:custGeom>
            <a:avLst/>
            <a:gdLst/>
            <a:ah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609480" y="2314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3695400" y="23144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4924080" y="23144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6162480" y="2314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09480" y="26953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609480" y="2685960"/>
            <a:ext cx="3096000" cy="9720"/>
          </a:xfrm>
          <a:custGeom>
            <a:avLst/>
            <a:gdLst/>
            <a:ahLst/>
            <a:rect l="0" t="0" r="r" b="b"/>
            <a:pathLst>
              <a:path w="8600" h="27">
                <a:moveTo>
                  <a:pt x="0" y="0"/>
                </a:moveTo>
                <a:lnTo>
                  <a:pt x="8600" y="0"/>
                </a:lnTo>
                <a:lnTo>
                  <a:pt x="8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3695400" y="26953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3705120" y="268596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4924080" y="26953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4933800" y="268596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6162480" y="26953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609480" y="30765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609480" y="3066840"/>
            <a:ext cx="3096000" cy="10080"/>
          </a:xfrm>
          <a:custGeom>
            <a:avLst/>
            <a:gdLst/>
            <a:ahLst/>
            <a:rect l="0" t="0" r="r" b="b"/>
            <a:pathLst>
              <a:path w="8600" h="28">
                <a:moveTo>
                  <a:pt x="0" y="0"/>
                </a:moveTo>
                <a:lnTo>
                  <a:pt x="8600" y="0"/>
                </a:lnTo>
                <a:lnTo>
                  <a:pt x="8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3695400" y="307656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3705120" y="306684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4924080" y="307656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4933800" y="3066840"/>
            <a:ext cx="1238400" cy="10080"/>
          </a:xfrm>
          <a:custGeom>
            <a:avLst/>
            <a:gdLst/>
            <a:ah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6162480" y="30765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609480" y="3438360"/>
            <a:ext cx="3096000" cy="9720"/>
          </a:xfrm>
          <a:custGeom>
            <a:avLst/>
            <a:gdLst/>
            <a:ahLst/>
            <a:rect l="0" t="0" r="r" b="b"/>
            <a:pathLst>
              <a:path w="8600" h="27">
                <a:moveTo>
                  <a:pt x="0" y="0"/>
                </a:moveTo>
                <a:lnTo>
                  <a:pt x="8600" y="0"/>
                </a:lnTo>
                <a:lnTo>
                  <a:pt x="8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3705120" y="343836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933800" y="3438360"/>
            <a:ext cx="1238400" cy="9720"/>
          </a:xfrm>
          <a:custGeom>
            <a:avLst/>
            <a:gdLst/>
            <a:ah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609480" y="1187640"/>
            <a:ext cx="94838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Ce qui manque au modèle : une information nationale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3826080" y="2028960"/>
            <a:ext cx="373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5061240" y="2028960"/>
            <a:ext cx="373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743040" y="2400120"/>
            <a:ext cx="2815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Évolution moyenne des départements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3826080" y="2400120"/>
            <a:ext cx="974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+21,5 kg/hab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5061240" y="2400120"/>
            <a:ext cx="974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−43,8 kg/hab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743040" y="2781360"/>
            <a:ext cx="1818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Départements en baisse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3826080" y="27813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11 %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5061240" y="2781360"/>
            <a:ext cx="382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97 %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743040" y="3162240"/>
            <a:ext cx="12960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Erreur du modèle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3826080" y="3162240"/>
            <a:ext cx="285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−22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5061240" y="3162240"/>
            <a:ext cx="285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+43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609480" y="3643200"/>
            <a:ext cx="10389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Tous les départements se trompent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dans le même sens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l'erreur est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commune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, pas locale. Il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609480" y="4014360"/>
            <a:ext cx="1007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manque une valeur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nationale qui change d'une année à l'autre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(inflation, pouvoir d'achat,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609480" y="4385880"/>
            <a:ext cx="1767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consommation).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609480" y="4909680"/>
            <a:ext cx="1026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Si on connaissait l'évolution nationale :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MAE 36,5 → 19,9, R² 0,70 → 0,88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(plafond théorique,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609480" y="5281200"/>
            <a:ext cx="23407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inconnue à l'avance).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609480" y="2124000"/>
            <a:ext cx="10973160" cy="733680"/>
          </a:xfrm>
          <a:custGeom>
            <a:avLst/>
            <a:gdLst/>
            <a:ahLst/>
            <a:rect l="0" t="0" r="r" b="b"/>
            <a:pathLst>
              <a:path w="30481" h="2038">
                <a:moveTo>
                  <a:pt x="0" y="0"/>
                </a:moveTo>
                <a:lnTo>
                  <a:pt x="30481" y="0"/>
                </a:lnTo>
                <a:lnTo>
                  <a:pt x="30481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E8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609480" y="2124000"/>
            <a:ext cx="57600" cy="733680"/>
          </a:xfrm>
          <a:custGeom>
            <a:avLst/>
            <a:gdLst/>
            <a:ahLst/>
            <a:rect l="0" t="0" r="r" b="b"/>
            <a:pathLst>
              <a:path w="160" h="2038">
                <a:moveTo>
                  <a:pt x="0" y="0"/>
                </a:moveTo>
                <a:lnTo>
                  <a:pt x="160" y="0"/>
                </a:lnTo>
                <a:lnTo>
                  <a:pt x="160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B570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618840" y="3381120"/>
            <a:ext cx="1724400" cy="381600"/>
          </a:xfrm>
          <a:custGeom>
            <a:avLst/>
            <a:gdLst/>
            <a:ahLst/>
            <a:rect l="0" t="0" r="r" b="b"/>
            <a:pathLst>
              <a:path w="4790" h="1060">
                <a:moveTo>
                  <a:pt x="0" y="0"/>
                </a:moveTo>
                <a:lnTo>
                  <a:pt x="4790" y="0"/>
                </a:lnTo>
                <a:lnTo>
                  <a:pt x="479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2342880" y="3381120"/>
            <a:ext cx="628920" cy="381600"/>
          </a:xfrm>
          <a:custGeom>
            <a:avLst/>
            <a:gdLst/>
            <a:ahLst/>
            <a:rect l="0" t="0" r="r" b="b"/>
            <a:pathLst>
              <a:path w="1747" h="1060">
                <a:moveTo>
                  <a:pt x="0" y="0"/>
                </a:moveTo>
                <a:lnTo>
                  <a:pt x="1747" y="0"/>
                </a:lnTo>
                <a:lnTo>
                  <a:pt x="174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2971440" y="3381120"/>
            <a:ext cx="629280" cy="381600"/>
          </a:xfrm>
          <a:custGeom>
            <a:avLst/>
            <a:gdLst/>
            <a:ahLst/>
            <a:rect l="0" t="0" r="r" b="b"/>
            <a:pathLst>
              <a:path w="1748" h="1060">
                <a:moveTo>
                  <a:pt x="0" y="0"/>
                </a:moveTo>
                <a:lnTo>
                  <a:pt x="1748" y="0"/>
                </a:lnTo>
                <a:lnTo>
                  <a:pt x="174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3600360" y="3381120"/>
            <a:ext cx="638280" cy="381600"/>
          </a:xfrm>
          <a:custGeom>
            <a:avLst/>
            <a:gdLst/>
            <a:ahLst/>
            <a:rect l="0" t="0" r="r" b="b"/>
            <a:pathLst>
              <a:path w="1773" h="1060">
                <a:moveTo>
                  <a:pt x="0" y="0"/>
                </a:moveTo>
                <a:lnTo>
                  <a:pt x="1773" y="0"/>
                </a:lnTo>
                <a:lnTo>
                  <a:pt x="177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618840" y="3381120"/>
            <a:ext cx="1724400" cy="381600"/>
          </a:xfrm>
          <a:custGeom>
            <a:avLst/>
            <a:gdLst/>
            <a:ahLst/>
            <a:rect l="0" t="0" r="r" b="b"/>
            <a:pathLst>
              <a:path w="4790" h="1060">
                <a:moveTo>
                  <a:pt x="0" y="0"/>
                </a:moveTo>
                <a:lnTo>
                  <a:pt x="4790" y="0"/>
                </a:lnTo>
                <a:lnTo>
                  <a:pt x="479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2342880" y="3381120"/>
            <a:ext cx="628920" cy="381600"/>
          </a:xfrm>
          <a:custGeom>
            <a:avLst/>
            <a:gdLst/>
            <a:ahLst/>
            <a:rect l="0" t="0" r="r" b="b"/>
            <a:pathLst>
              <a:path w="1747" h="1060">
                <a:moveTo>
                  <a:pt x="0" y="0"/>
                </a:moveTo>
                <a:lnTo>
                  <a:pt x="1747" y="0"/>
                </a:lnTo>
                <a:lnTo>
                  <a:pt x="174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2971440" y="3381120"/>
            <a:ext cx="629280" cy="381600"/>
          </a:xfrm>
          <a:custGeom>
            <a:avLst/>
            <a:gdLst/>
            <a:ahLst/>
            <a:rect l="0" t="0" r="r" b="b"/>
            <a:pathLst>
              <a:path w="1748" h="1060">
                <a:moveTo>
                  <a:pt x="0" y="0"/>
                </a:moveTo>
                <a:lnTo>
                  <a:pt x="1748" y="0"/>
                </a:lnTo>
                <a:lnTo>
                  <a:pt x="174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3600360" y="3381120"/>
            <a:ext cx="638280" cy="381600"/>
          </a:xfrm>
          <a:custGeom>
            <a:avLst/>
            <a:gdLst/>
            <a:ahLst/>
            <a:rect l="0" t="0" r="r" b="b"/>
            <a:pathLst>
              <a:path w="1773" h="1060">
                <a:moveTo>
                  <a:pt x="0" y="0"/>
                </a:moveTo>
                <a:lnTo>
                  <a:pt x="1773" y="0"/>
                </a:lnTo>
                <a:lnTo>
                  <a:pt x="177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618840" y="3762360"/>
            <a:ext cx="1724400" cy="371520"/>
          </a:xfrm>
          <a:custGeom>
            <a:avLst/>
            <a:gdLst/>
            <a:ahLst/>
            <a:rect l="0" t="0" r="r" b="b"/>
            <a:pathLst>
              <a:path w="4790" h="1032">
                <a:moveTo>
                  <a:pt x="0" y="0"/>
                </a:moveTo>
                <a:lnTo>
                  <a:pt x="4790" y="0"/>
                </a:lnTo>
                <a:lnTo>
                  <a:pt x="479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2342880" y="3762360"/>
            <a:ext cx="628920" cy="371520"/>
          </a:xfrm>
          <a:custGeom>
            <a:avLst/>
            <a:gdLst/>
            <a:ahLst/>
            <a:rect l="0" t="0" r="r" b="b"/>
            <a:pathLst>
              <a:path w="1747" h="1032">
                <a:moveTo>
                  <a:pt x="0" y="0"/>
                </a:moveTo>
                <a:lnTo>
                  <a:pt x="1747" y="0"/>
                </a:lnTo>
                <a:lnTo>
                  <a:pt x="174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2971440" y="3762360"/>
            <a:ext cx="629280" cy="371520"/>
          </a:xfrm>
          <a:custGeom>
            <a:avLst/>
            <a:gdLst/>
            <a:ahLst/>
            <a:rect l="0" t="0" r="r" b="b"/>
            <a:pathLst>
              <a:path w="1748" h="1032">
                <a:moveTo>
                  <a:pt x="0" y="0"/>
                </a:moveTo>
                <a:lnTo>
                  <a:pt x="1748" y="0"/>
                </a:lnTo>
                <a:lnTo>
                  <a:pt x="174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3600360" y="3762360"/>
            <a:ext cx="638280" cy="371520"/>
          </a:xfrm>
          <a:custGeom>
            <a:avLst/>
            <a:gdLst/>
            <a:ahLst/>
            <a:rect l="0" t="0" r="r" b="b"/>
            <a:pathLst>
              <a:path w="1773" h="1032">
                <a:moveTo>
                  <a:pt x="0" y="0"/>
                </a:moveTo>
                <a:lnTo>
                  <a:pt x="1773" y="0"/>
                </a:lnTo>
                <a:lnTo>
                  <a:pt x="177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618840" y="4133520"/>
            <a:ext cx="1724400" cy="381600"/>
          </a:xfrm>
          <a:custGeom>
            <a:avLst/>
            <a:gdLst/>
            <a:ahLst/>
            <a:rect l="0" t="0" r="r" b="b"/>
            <a:pathLst>
              <a:path w="4790" h="1060">
                <a:moveTo>
                  <a:pt x="0" y="0"/>
                </a:moveTo>
                <a:lnTo>
                  <a:pt x="4790" y="0"/>
                </a:lnTo>
                <a:lnTo>
                  <a:pt x="479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2342880" y="4133520"/>
            <a:ext cx="628920" cy="381600"/>
          </a:xfrm>
          <a:custGeom>
            <a:avLst/>
            <a:gdLst/>
            <a:ahLst/>
            <a:rect l="0" t="0" r="r" b="b"/>
            <a:pathLst>
              <a:path w="1747" h="1060">
                <a:moveTo>
                  <a:pt x="0" y="0"/>
                </a:moveTo>
                <a:lnTo>
                  <a:pt x="1747" y="0"/>
                </a:lnTo>
                <a:lnTo>
                  <a:pt x="174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2971440" y="4133520"/>
            <a:ext cx="629280" cy="381600"/>
          </a:xfrm>
          <a:custGeom>
            <a:avLst/>
            <a:gdLst/>
            <a:ahLst/>
            <a:rect l="0" t="0" r="r" b="b"/>
            <a:pathLst>
              <a:path w="1748" h="1060">
                <a:moveTo>
                  <a:pt x="0" y="0"/>
                </a:moveTo>
                <a:lnTo>
                  <a:pt x="1748" y="0"/>
                </a:lnTo>
                <a:lnTo>
                  <a:pt x="174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3600360" y="4133520"/>
            <a:ext cx="638280" cy="381600"/>
          </a:xfrm>
          <a:custGeom>
            <a:avLst/>
            <a:gdLst/>
            <a:ahLst/>
            <a:rect l="0" t="0" r="r" b="b"/>
            <a:pathLst>
              <a:path w="1773" h="1060">
                <a:moveTo>
                  <a:pt x="0" y="0"/>
                </a:moveTo>
                <a:lnTo>
                  <a:pt x="1773" y="0"/>
                </a:lnTo>
                <a:lnTo>
                  <a:pt x="177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618840" y="4514760"/>
            <a:ext cx="1724400" cy="371880"/>
          </a:xfrm>
          <a:custGeom>
            <a:avLst/>
            <a:gdLst/>
            <a:ahLst/>
            <a:rect l="0" t="0" r="r" b="b"/>
            <a:pathLst>
              <a:path w="4790" h="1033">
                <a:moveTo>
                  <a:pt x="0" y="0"/>
                </a:moveTo>
                <a:lnTo>
                  <a:pt x="4790" y="0"/>
                </a:lnTo>
                <a:lnTo>
                  <a:pt x="479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2342880" y="4514760"/>
            <a:ext cx="628920" cy="371880"/>
          </a:xfrm>
          <a:custGeom>
            <a:avLst/>
            <a:gdLst/>
            <a:ahLst/>
            <a:rect l="0" t="0" r="r" b="b"/>
            <a:pathLst>
              <a:path w="1747" h="1033">
                <a:moveTo>
                  <a:pt x="0" y="0"/>
                </a:moveTo>
                <a:lnTo>
                  <a:pt x="1747" y="0"/>
                </a:lnTo>
                <a:lnTo>
                  <a:pt x="174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2971440" y="451476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3600360" y="4514760"/>
            <a:ext cx="638280" cy="371880"/>
          </a:xfrm>
          <a:custGeom>
            <a:avLst/>
            <a:gdLst/>
            <a:ahLst/>
            <a:rect l="0" t="0" r="r" b="b"/>
            <a:pathLst>
              <a:path w="1773" h="1033">
                <a:moveTo>
                  <a:pt x="0" y="0"/>
                </a:moveTo>
                <a:lnTo>
                  <a:pt x="1773" y="0"/>
                </a:lnTo>
                <a:lnTo>
                  <a:pt x="17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60948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609480" y="3381120"/>
            <a:ext cx="1733760" cy="10080"/>
          </a:xfrm>
          <a:custGeom>
            <a:avLst/>
            <a:gdLst/>
            <a:ahLst/>
            <a:rect l="0" t="0" r="r" b="b"/>
            <a:pathLst>
              <a:path w="4816" h="28">
                <a:moveTo>
                  <a:pt x="0" y="0"/>
                </a:moveTo>
                <a:lnTo>
                  <a:pt x="4816" y="0"/>
                </a:lnTo>
                <a:lnTo>
                  <a:pt x="48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233352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2342880" y="3381120"/>
            <a:ext cx="638640" cy="10080"/>
          </a:xfrm>
          <a:custGeom>
            <a:avLst/>
            <a:gdLst/>
            <a:ahLst/>
            <a:rect l="0" t="0" r="r" b="b"/>
            <a:pathLst>
              <a:path w="1774" h="28">
                <a:moveTo>
                  <a:pt x="0" y="0"/>
                </a:moveTo>
                <a:lnTo>
                  <a:pt x="1774" y="0"/>
                </a:lnTo>
                <a:lnTo>
                  <a:pt x="1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2971440" y="338112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0" y="0"/>
                </a:moveTo>
                <a:lnTo>
                  <a:pt x="29" y="0"/>
                </a:lnTo>
                <a:lnTo>
                  <a:pt x="2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2981160" y="338112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360036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3609720" y="338112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4228920" y="33811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609480" y="3752640"/>
            <a:ext cx="1733760" cy="10080"/>
          </a:xfrm>
          <a:custGeom>
            <a:avLst/>
            <a:gdLst/>
            <a:ahLst/>
            <a:rect l="0" t="0" r="r" b="b"/>
            <a:pathLst>
              <a:path w="4816" h="28">
                <a:moveTo>
                  <a:pt x="0" y="0"/>
                </a:moveTo>
                <a:lnTo>
                  <a:pt x="4816" y="0"/>
                </a:lnTo>
                <a:lnTo>
                  <a:pt x="48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2342880" y="3752640"/>
            <a:ext cx="638640" cy="10080"/>
          </a:xfrm>
          <a:custGeom>
            <a:avLst/>
            <a:gdLst/>
            <a:ahLst/>
            <a:rect l="0" t="0" r="r" b="b"/>
            <a:pathLst>
              <a:path w="1774" h="28">
                <a:moveTo>
                  <a:pt x="0" y="0"/>
                </a:moveTo>
                <a:lnTo>
                  <a:pt x="1774" y="0"/>
                </a:lnTo>
                <a:lnTo>
                  <a:pt x="1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2981160" y="37526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3609720" y="37526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609480" y="3762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2333520" y="3762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2971440" y="37623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3600360" y="3762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4228920" y="3762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609480" y="4143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609480" y="4133520"/>
            <a:ext cx="1733760" cy="10080"/>
          </a:xfrm>
          <a:custGeom>
            <a:avLst/>
            <a:gdLst/>
            <a:ahLst/>
            <a:rect l="0" t="0" r="r" b="b"/>
            <a:pathLst>
              <a:path w="4816" h="28">
                <a:moveTo>
                  <a:pt x="0" y="0"/>
                </a:moveTo>
                <a:lnTo>
                  <a:pt x="4816" y="0"/>
                </a:lnTo>
                <a:lnTo>
                  <a:pt x="48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2333520" y="4143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2342880" y="4133520"/>
            <a:ext cx="638640" cy="10080"/>
          </a:xfrm>
          <a:custGeom>
            <a:avLst/>
            <a:gdLst/>
            <a:ahLst/>
            <a:rect l="0" t="0" r="r" b="b"/>
            <a:pathLst>
              <a:path w="1774" h="28">
                <a:moveTo>
                  <a:pt x="0" y="0"/>
                </a:moveTo>
                <a:lnTo>
                  <a:pt x="1774" y="0"/>
                </a:lnTo>
                <a:lnTo>
                  <a:pt x="1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2971440" y="41432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2981160" y="413352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3600360" y="4143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3609720" y="413352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4228920" y="4143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609480" y="4514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609480" y="4505040"/>
            <a:ext cx="1733760" cy="10080"/>
          </a:xfrm>
          <a:custGeom>
            <a:avLst/>
            <a:gdLst/>
            <a:ahLst/>
            <a:rect l="0" t="0" r="r" b="b"/>
            <a:pathLst>
              <a:path w="4816" h="28">
                <a:moveTo>
                  <a:pt x="0" y="0"/>
                </a:moveTo>
                <a:lnTo>
                  <a:pt x="4816" y="0"/>
                </a:lnTo>
                <a:lnTo>
                  <a:pt x="48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2333520" y="4514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2342880" y="4505040"/>
            <a:ext cx="638640" cy="10080"/>
          </a:xfrm>
          <a:custGeom>
            <a:avLst/>
            <a:gdLst/>
            <a:ahLst/>
            <a:rect l="0" t="0" r="r" b="b"/>
            <a:pathLst>
              <a:path w="1774" h="28">
                <a:moveTo>
                  <a:pt x="0" y="0"/>
                </a:moveTo>
                <a:lnTo>
                  <a:pt x="1774" y="0"/>
                </a:lnTo>
                <a:lnTo>
                  <a:pt x="1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2971440" y="45147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0" y="0"/>
                </a:moveTo>
                <a:lnTo>
                  <a:pt x="29" y="0"/>
                </a:lnTo>
                <a:lnTo>
                  <a:pt x="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2981160" y="45050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3600360" y="4514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3609720" y="45050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4228920" y="4514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609480" y="4886280"/>
            <a:ext cx="1733760" cy="9720"/>
          </a:xfrm>
          <a:custGeom>
            <a:avLst/>
            <a:gdLst/>
            <a:ahLst/>
            <a:rect l="0" t="0" r="r" b="b"/>
            <a:pathLst>
              <a:path w="4816" h="27">
                <a:moveTo>
                  <a:pt x="0" y="0"/>
                </a:moveTo>
                <a:lnTo>
                  <a:pt x="4816" y="0"/>
                </a:lnTo>
                <a:lnTo>
                  <a:pt x="48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2342880" y="4886280"/>
            <a:ext cx="638640" cy="9720"/>
          </a:xfrm>
          <a:custGeom>
            <a:avLst/>
            <a:gdLst/>
            <a:ahLst/>
            <a:rect l="0" t="0" r="r" b="b"/>
            <a:pathLst>
              <a:path w="1774" h="27">
                <a:moveTo>
                  <a:pt x="0" y="0"/>
                </a:moveTo>
                <a:lnTo>
                  <a:pt x="1774" y="0"/>
                </a:lnTo>
                <a:lnTo>
                  <a:pt x="1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2981160" y="488628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3609720" y="488628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609480" y="1378440"/>
            <a:ext cx="4713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Hypothèse et cas à vérifier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819000" y="2234880"/>
            <a:ext cx="10120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Hypothèse : le pouvoir d'achat. </a:t>
            </a:r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Les prix ont fortement augmenté en 2022–2023 : moins d'achats, moins de déchets,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819000" y="2520720"/>
            <a:ext cx="8773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partout. Non vérifiable avec nos données : le revenu médian INSEE s'arrête en 2021 et ignore les prix.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609480" y="2900160"/>
            <a:ext cx="9250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Eure-et-Loir et Territoire-de-Belfort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les plus grosses erreurs (123 et 110 kg/hab).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743040" y="3476520"/>
            <a:ext cx="11181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Ratio (kg/hab)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2468880" y="3476520"/>
            <a:ext cx="373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2019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3100680" y="3476520"/>
            <a:ext cx="373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2021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3732480" y="3476520"/>
            <a:ext cx="373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743040" y="3848040"/>
            <a:ext cx="885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Eure-et-Loir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2562480" y="38480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513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3194280" y="38480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609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3826080" y="38480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454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743040" y="4228920"/>
            <a:ext cx="1454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Territoire-de-Belfort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 txBox="1"/>
          <p:nvPr/>
        </p:nvSpPr>
        <p:spPr>
          <a:xfrm>
            <a:off x="2562480" y="422892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502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3194280" y="422892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603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3826080" y="422892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479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743040" y="4600440"/>
            <a:ext cx="1463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Oise (comparaison)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2562480" y="46004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559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3194280" y="46004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607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3826080" y="4600440"/>
            <a:ext cx="28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492</a:t>
            </a:r>
            <a:endParaRPr lang="fr-FR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609480" y="5090760"/>
            <a:ext cx="10172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Ces deux séries s'écartent plus que les autres,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sans preuve d'erreur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à vérifier à la source.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609480" y="2923920"/>
            <a:ext cx="5353200" cy="47880"/>
          </a:xfrm>
          <a:custGeom>
            <a:avLst/>
            <a:gdLst/>
            <a:ahLst/>
            <a:rect l="0" t="0" r="r" b="b"/>
            <a:pathLst>
              <a:path w="14870" h="133">
                <a:moveTo>
                  <a:pt x="0" y="0"/>
                </a:moveTo>
                <a:lnTo>
                  <a:pt x="14870" y="0"/>
                </a:lnTo>
                <a:lnTo>
                  <a:pt x="14870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609480" y="4609800"/>
            <a:ext cx="5353200" cy="10080"/>
          </a:xfrm>
          <a:custGeom>
            <a:avLst/>
            <a:gdLst/>
            <a:ahLst/>
            <a:rect l="0" t="0" r="r" b="b"/>
            <a:pathLst>
              <a:path w="14870" h="28">
                <a:moveTo>
                  <a:pt x="0" y="0"/>
                </a:moveTo>
                <a:lnTo>
                  <a:pt x="14870" y="0"/>
                </a:lnTo>
                <a:lnTo>
                  <a:pt x="148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5952960" y="2923920"/>
            <a:ext cx="9720" cy="1695960"/>
          </a:xfrm>
          <a:custGeom>
            <a:avLst/>
            <a:gdLst/>
            <a:ahLst/>
            <a:rect l="0" t="0" r="r" b="b"/>
            <a:pathLst>
              <a:path w="27" h="4711">
                <a:moveTo>
                  <a:pt x="0" y="132"/>
                </a:moveTo>
                <a:lnTo>
                  <a:pt x="0" y="4711"/>
                </a:lnTo>
                <a:lnTo>
                  <a:pt x="27" y="4711"/>
                </a:lnTo>
                <a:lnTo>
                  <a:pt x="27" y="0"/>
                </a:lnTo>
                <a:lnTo>
                  <a:pt x="0" y="132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609480" y="2923920"/>
            <a:ext cx="9720" cy="1695960"/>
          </a:xfrm>
          <a:custGeom>
            <a:avLst/>
            <a:gdLst/>
            <a:ahLst/>
            <a:rect l="0" t="0" r="r" b="b"/>
            <a:pathLst>
              <a:path w="27" h="4711">
                <a:moveTo>
                  <a:pt x="0" y="0"/>
                </a:moveTo>
                <a:lnTo>
                  <a:pt x="0" y="4711"/>
                </a:lnTo>
                <a:lnTo>
                  <a:pt x="27" y="4711"/>
                </a:lnTo>
                <a:lnTo>
                  <a:pt x="27" y="132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609480" y="2178360"/>
            <a:ext cx="13024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Limites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771480" y="3101760"/>
            <a:ext cx="925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Supervisé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771480" y="3387600"/>
            <a:ext cx="48855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8 enquêtes seulement, une tous les 2 ans. Variables trop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771480" y="3682800"/>
            <a:ext cx="4778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stables. Rupture 2021–2023 de cause inconnue (Covid,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6229080" y="2923920"/>
            <a:ext cx="5353560" cy="47880"/>
          </a:xfrm>
          <a:custGeom>
            <a:avLst/>
            <a:gdLst/>
            <a:ahLst/>
            <a:rect l="0" t="0" r="r" b="b"/>
            <a:pathLst>
              <a:path w="14871" h="133">
                <a:moveTo>
                  <a:pt x="0" y="0"/>
                </a:moveTo>
                <a:lnTo>
                  <a:pt x="14871" y="0"/>
                </a:lnTo>
                <a:lnTo>
                  <a:pt x="14871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6229080" y="4609800"/>
            <a:ext cx="5353560" cy="10080"/>
          </a:xfrm>
          <a:custGeom>
            <a:avLst/>
            <a:gdLst/>
            <a:ahLst/>
            <a:rect l="0" t="0" r="r" b="b"/>
            <a:pathLst>
              <a:path w="14871" h="28">
                <a:moveTo>
                  <a:pt x="0" y="0"/>
                </a:moveTo>
                <a:lnTo>
                  <a:pt x="14871" y="0"/>
                </a:lnTo>
                <a:lnTo>
                  <a:pt x="148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11572560" y="2923920"/>
            <a:ext cx="10080" cy="1695960"/>
          </a:xfrm>
          <a:custGeom>
            <a:avLst/>
            <a:gdLst/>
            <a:ahLst/>
            <a:rect l="0" t="0" r="r" b="b"/>
            <a:pathLst>
              <a:path w="28" h="4711">
                <a:moveTo>
                  <a:pt x="0" y="132"/>
                </a:moveTo>
                <a:lnTo>
                  <a:pt x="0" y="4711"/>
                </a:lnTo>
                <a:lnTo>
                  <a:pt x="28" y="4711"/>
                </a:lnTo>
                <a:lnTo>
                  <a:pt x="28" y="0"/>
                </a:lnTo>
                <a:lnTo>
                  <a:pt x="0" y="132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6229080" y="2923920"/>
            <a:ext cx="10080" cy="1695960"/>
          </a:xfrm>
          <a:custGeom>
            <a:avLst/>
            <a:gdLst/>
            <a:ahLst/>
            <a:rect l="0" t="0" r="r" b="b"/>
            <a:pathLst>
              <a:path w="28" h="4711">
                <a:moveTo>
                  <a:pt x="0" y="0"/>
                </a:moveTo>
                <a:lnTo>
                  <a:pt x="0" y="4711"/>
                </a:lnTo>
                <a:lnTo>
                  <a:pt x="28" y="4711"/>
                </a:lnTo>
                <a:lnTo>
                  <a:pt x="28" y="132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771480" y="3968640"/>
            <a:ext cx="4039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consignes de tri, pouvoir d'achat : hypothèses).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6391440" y="3101760"/>
            <a:ext cx="13345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Non supervisé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6391440" y="3387600"/>
            <a:ext cx="49176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Structure modérée (silhouette 0,315), un seul nuage pour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6391440" y="3682800"/>
            <a:ext cx="43470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DBSCAN. 2 groupes fragiles. Sensible aux valeurs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6391440" y="3968640"/>
            <a:ext cx="42228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extrêmes et à l'outre-mer. Une photo 2019–2021,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 txBox="1"/>
          <p:nvPr/>
        </p:nvSpPr>
        <p:spPr>
          <a:xfrm>
            <a:off x="6391440" y="4263840"/>
            <a:ext cx="2276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explications = hypothèses.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609480" y="3590640"/>
            <a:ext cx="10973160" cy="1019520"/>
          </a:xfrm>
          <a:custGeom>
            <a:avLst/>
            <a:gdLst/>
            <a:ahLst/>
            <a:rect l="0" t="0" r="r" b="b"/>
            <a:pathLst>
              <a:path w="30481" h="2832">
                <a:moveTo>
                  <a:pt x="0" y="0"/>
                </a:moveTo>
                <a:lnTo>
                  <a:pt x="30481" y="0"/>
                </a:lnTo>
                <a:lnTo>
                  <a:pt x="30481" y="2832"/>
                </a:lnTo>
                <a:lnTo>
                  <a:pt x="0" y="2832"/>
                </a:lnTo>
                <a:lnTo>
                  <a:pt x="0" y="0"/>
                </a:lnTo>
                <a:close/>
              </a:path>
            </a:pathLst>
          </a:custGeom>
          <a:solidFill>
            <a:srgbClr val="F6E8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609480" y="3590640"/>
            <a:ext cx="57600" cy="1019520"/>
          </a:xfrm>
          <a:custGeom>
            <a:avLst/>
            <a:gdLst/>
            <a:ahLst/>
            <a:rect l="0" t="0" r="r" b="b"/>
            <a:pathLst>
              <a:path w="160" h="2832">
                <a:moveTo>
                  <a:pt x="0" y="0"/>
                </a:moveTo>
                <a:lnTo>
                  <a:pt x="160" y="0"/>
                </a:lnTo>
                <a:lnTo>
                  <a:pt x="160" y="2832"/>
                </a:lnTo>
                <a:lnTo>
                  <a:pt x="0" y="2832"/>
                </a:lnTo>
                <a:lnTo>
                  <a:pt x="0" y="0"/>
                </a:lnTo>
                <a:close/>
              </a:path>
            </a:pathLst>
          </a:custGeom>
          <a:solidFill>
            <a:srgbClr val="B570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609480" y="2180880"/>
            <a:ext cx="3534120" cy="48240"/>
          </a:xfrm>
          <a:custGeom>
            <a:avLst/>
            <a:gdLst/>
            <a:ahLst/>
            <a:rect l="0" t="0" r="r" b="b"/>
            <a:pathLst>
              <a:path w="9817" h="134">
                <a:moveTo>
                  <a:pt x="0" y="0"/>
                </a:moveTo>
                <a:lnTo>
                  <a:pt x="9817" y="0"/>
                </a:lnTo>
                <a:lnTo>
                  <a:pt x="9817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609480" y="358128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4133520" y="2180880"/>
            <a:ext cx="10080" cy="1410120"/>
          </a:xfrm>
          <a:custGeom>
            <a:avLst/>
            <a:gdLst/>
            <a:ahLst/>
            <a:rect l="0" t="0" r="r" b="b"/>
            <a:pathLst>
              <a:path w="28" h="3917">
                <a:moveTo>
                  <a:pt x="0" y="133"/>
                </a:moveTo>
                <a:lnTo>
                  <a:pt x="0" y="3917"/>
                </a:lnTo>
                <a:lnTo>
                  <a:pt x="28" y="3917"/>
                </a:lnTo>
                <a:lnTo>
                  <a:pt x="28" y="0"/>
                </a:lnTo>
                <a:lnTo>
                  <a:pt x="0" y="133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609480" y="2180880"/>
            <a:ext cx="9720" cy="1410120"/>
          </a:xfrm>
          <a:custGeom>
            <a:avLst/>
            <a:gdLst/>
            <a:ahLst/>
            <a:rect l="0" t="0" r="r" b="b"/>
            <a:pathLst>
              <a:path w="27" h="3917">
                <a:moveTo>
                  <a:pt x="0" y="0"/>
                </a:moveTo>
                <a:lnTo>
                  <a:pt x="0" y="3917"/>
                </a:lnTo>
                <a:lnTo>
                  <a:pt x="27" y="3917"/>
                </a:lnTo>
                <a:lnTo>
                  <a:pt x="2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609480" y="1445040"/>
            <a:ext cx="37260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293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Pistes d'amélioration</a:t>
            </a:r>
            <a:endParaRPr lang="fr-FR" sz="29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771480" y="2358720"/>
            <a:ext cx="1312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Dans le temps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771480" y="2654280"/>
            <a:ext cx="31640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Données </a:t>
            </a:r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mensuelles</a:t>
            </a:r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12 points par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771480" y="2939760"/>
            <a:ext cx="23248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an, ruptures et saisonnalité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4333680" y="2180880"/>
            <a:ext cx="3524760" cy="48240"/>
          </a:xfrm>
          <a:custGeom>
            <a:avLst/>
            <a:gdLst/>
            <a:ahLst/>
            <a:rect l="0" t="0" r="r" b="b"/>
            <a:pathLst>
              <a:path w="9791" h="134">
                <a:moveTo>
                  <a:pt x="0" y="0"/>
                </a:moveTo>
                <a:lnTo>
                  <a:pt x="9791" y="0"/>
                </a:lnTo>
                <a:lnTo>
                  <a:pt x="9791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4333680" y="3581280"/>
            <a:ext cx="3524760" cy="9720"/>
          </a:xfrm>
          <a:custGeom>
            <a:avLst/>
            <a:gdLst/>
            <a:ahLst/>
            <a:rect l="0" t="0" r="r" b="b"/>
            <a:pathLst>
              <a:path w="9791" h="27">
                <a:moveTo>
                  <a:pt x="0" y="0"/>
                </a:moveTo>
                <a:lnTo>
                  <a:pt x="9791" y="0"/>
                </a:lnTo>
                <a:lnTo>
                  <a:pt x="97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7848360" y="2180880"/>
            <a:ext cx="10080" cy="1410120"/>
          </a:xfrm>
          <a:custGeom>
            <a:avLst/>
            <a:gdLst/>
            <a:ahLst/>
            <a:rect l="0" t="0" r="r" b="b"/>
            <a:pathLst>
              <a:path w="28" h="3917">
                <a:moveTo>
                  <a:pt x="0" y="133"/>
                </a:moveTo>
                <a:lnTo>
                  <a:pt x="0" y="3917"/>
                </a:lnTo>
                <a:lnTo>
                  <a:pt x="28" y="3917"/>
                </a:lnTo>
                <a:lnTo>
                  <a:pt x="28" y="0"/>
                </a:lnTo>
                <a:lnTo>
                  <a:pt x="0" y="133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4333680" y="2180880"/>
            <a:ext cx="9720" cy="1410120"/>
          </a:xfrm>
          <a:custGeom>
            <a:avLst/>
            <a:gdLst/>
            <a:ahLst/>
            <a:rect l="0" t="0" r="r" b="b"/>
            <a:pathLst>
              <a:path w="27" h="3917">
                <a:moveTo>
                  <a:pt x="0" y="0"/>
                </a:moveTo>
                <a:lnTo>
                  <a:pt x="0" y="3917"/>
                </a:lnTo>
                <a:lnTo>
                  <a:pt x="27" y="3917"/>
                </a:lnTo>
                <a:lnTo>
                  <a:pt x="2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771480" y="3234960"/>
            <a:ext cx="9475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touristique.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4492440" y="2358720"/>
            <a:ext cx="12841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Dans l'espace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4492440" y="2654280"/>
            <a:ext cx="3142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Données </a:t>
            </a:r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par ville</a:t>
            </a:r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lien avec la taille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4492440" y="2939760"/>
            <a:ext cx="2533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de la ville, écarts au sein d'un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8048520" y="2180880"/>
            <a:ext cx="3534120" cy="48240"/>
          </a:xfrm>
          <a:custGeom>
            <a:avLst/>
            <a:gdLst/>
            <a:ahLst/>
            <a:rect l="0" t="0" r="r" b="b"/>
            <a:pathLst>
              <a:path w="9817" h="134">
                <a:moveTo>
                  <a:pt x="0" y="0"/>
                </a:moveTo>
                <a:lnTo>
                  <a:pt x="9817" y="0"/>
                </a:lnTo>
                <a:lnTo>
                  <a:pt x="9817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0E6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8048520" y="3581280"/>
            <a:ext cx="3534120" cy="9720"/>
          </a:xfrm>
          <a:custGeom>
            <a:avLst/>
            <a:gdLst/>
            <a:ahLst/>
            <a:rect l="0" t="0" r="r" b="b"/>
            <a:pathLst>
              <a:path w="9817" h="27">
                <a:moveTo>
                  <a:pt x="0" y="0"/>
                </a:moveTo>
                <a:lnTo>
                  <a:pt x="9817" y="0"/>
                </a:lnTo>
                <a:lnTo>
                  <a:pt x="98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11572560" y="2180880"/>
            <a:ext cx="10080" cy="1410120"/>
          </a:xfrm>
          <a:custGeom>
            <a:avLst/>
            <a:gdLst/>
            <a:ahLst/>
            <a:rect l="0" t="0" r="r" b="b"/>
            <a:pathLst>
              <a:path w="28" h="3917">
                <a:moveTo>
                  <a:pt x="0" y="133"/>
                </a:moveTo>
                <a:lnTo>
                  <a:pt x="0" y="3917"/>
                </a:lnTo>
                <a:lnTo>
                  <a:pt x="28" y="3917"/>
                </a:lnTo>
                <a:lnTo>
                  <a:pt x="28" y="0"/>
                </a:lnTo>
                <a:lnTo>
                  <a:pt x="0" y="133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8048520" y="2180880"/>
            <a:ext cx="9720" cy="1410120"/>
          </a:xfrm>
          <a:custGeom>
            <a:avLst/>
            <a:gdLst/>
            <a:ahLst/>
            <a:rect l="0" t="0" r="r" b="b"/>
            <a:pathLst>
              <a:path w="27" h="3917">
                <a:moveTo>
                  <a:pt x="0" y="0"/>
                </a:moveTo>
                <a:lnTo>
                  <a:pt x="0" y="3917"/>
                </a:lnTo>
                <a:lnTo>
                  <a:pt x="27" y="3917"/>
                </a:lnTo>
                <a:lnTo>
                  <a:pt x="2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D9E0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4492440" y="3234960"/>
            <a:ext cx="11412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département.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8213760" y="2358720"/>
            <a:ext cx="8074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Par zone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8213760" y="2654280"/>
            <a:ext cx="30348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Chaque ville rattachée à sa zone et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8213760" y="2939760"/>
            <a:ext cx="2797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son département : on retrouve le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8213760" y="3234960"/>
            <a:ext cx="25290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compte rendu départemental.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819000" y="3701880"/>
            <a:ext cx="10108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1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Le prix à payer : </a:t>
            </a:r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ces données n'existent pas dans les bases publiques. Il faut davantage de moyens (recueil mensuel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819000" y="3997080"/>
            <a:ext cx="98766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auprès de chaque collectivité, format commun). Bénéfice : meilleure gestion des déchets et vue sur les écarts entre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819000" y="4282920"/>
            <a:ext cx="8611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52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territoires.</a:t>
            </a:r>
            <a:endParaRPr lang="fr-FR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609480" y="4652640"/>
            <a:ext cx="10541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Piste prioritaire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ajouter une série nationale (inflation, pouvoir d'achat). </a:t>
            </a:r>
            <a:r>
              <a:rPr lang="fr-FR" sz="1950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Puis</a:t>
            </a:r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 : variables INSEE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609480" y="5024160"/>
            <a:ext cx="4695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logement et tourisme, tarification incitative.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11757960" y="6480000"/>
            <a:ext cx="14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609480" y="2143080"/>
            <a:ext cx="47451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3309" b="1" u="none" strike="noStrike">
                <a:solidFill>
                  <a:srgbClr val="0E6B5B"/>
                </a:solidFill>
                <a:effectLst/>
                <a:uFillTx/>
                <a:latin typeface="arial"/>
                <a:ea typeface="arial"/>
              </a:rPr>
              <a:t>Merci de votre attention</a:t>
            </a:r>
            <a:endParaRPr lang="fr-FR" sz="330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609480" y="3024000"/>
            <a:ext cx="10833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Aucun profil n'est exemplaire : chaque territoire appelle une stratégie adaptée à son habitat et à sa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609480" y="3933720"/>
            <a:ext cx="9515880" cy="314640"/>
          </a:xfrm>
          <a:custGeom>
            <a:avLst/>
            <a:gdLst/>
            <a:ahLst/>
            <a:rect l="0" t="0" r="r" b="b"/>
            <a:pathLst>
              <a:path w="26433" h="874">
                <a:moveTo>
                  <a:pt x="0" y="71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6274" y="0"/>
                </a:lnTo>
                <a:cubicBezTo>
                  <a:pt x="26284" y="0"/>
                  <a:pt x="26295" y="1"/>
                  <a:pt x="26305" y="3"/>
                </a:cubicBezTo>
                <a:cubicBezTo>
                  <a:pt x="26315" y="5"/>
                  <a:pt x="26325" y="8"/>
                  <a:pt x="26335" y="12"/>
                </a:cubicBezTo>
                <a:cubicBezTo>
                  <a:pt x="26344" y="16"/>
                  <a:pt x="26353" y="21"/>
                  <a:pt x="26362" y="27"/>
                </a:cubicBezTo>
                <a:cubicBezTo>
                  <a:pt x="26371" y="32"/>
                  <a:pt x="26379" y="39"/>
                  <a:pt x="26386" y="46"/>
                </a:cubicBezTo>
                <a:cubicBezTo>
                  <a:pt x="26394" y="54"/>
                  <a:pt x="26400" y="62"/>
                  <a:pt x="26406" y="70"/>
                </a:cubicBezTo>
                <a:cubicBezTo>
                  <a:pt x="26412" y="79"/>
                  <a:pt x="26417" y="88"/>
                  <a:pt x="26421" y="98"/>
                </a:cubicBezTo>
                <a:cubicBezTo>
                  <a:pt x="26425" y="107"/>
                  <a:pt x="26428" y="117"/>
                  <a:pt x="26430" y="128"/>
                </a:cubicBezTo>
                <a:cubicBezTo>
                  <a:pt x="26432" y="138"/>
                  <a:pt x="26433" y="148"/>
                  <a:pt x="26433" y="159"/>
                </a:cubicBezTo>
                <a:lnTo>
                  <a:pt x="26433" y="714"/>
                </a:lnTo>
                <a:cubicBezTo>
                  <a:pt x="26433" y="725"/>
                  <a:pt x="26432" y="735"/>
                  <a:pt x="26430" y="745"/>
                </a:cubicBezTo>
                <a:cubicBezTo>
                  <a:pt x="26428" y="755"/>
                  <a:pt x="26425" y="765"/>
                  <a:pt x="26421" y="775"/>
                </a:cubicBezTo>
                <a:cubicBezTo>
                  <a:pt x="26417" y="785"/>
                  <a:pt x="26412" y="794"/>
                  <a:pt x="26406" y="802"/>
                </a:cubicBezTo>
                <a:cubicBezTo>
                  <a:pt x="26400" y="811"/>
                  <a:pt x="26394" y="819"/>
                  <a:pt x="26386" y="826"/>
                </a:cubicBezTo>
                <a:cubicBezTo>
                  <a:pt x="26379" y="834"/>
                  <a:pt x="26371" y="840"/>
                  <a:pt x="26362" y="846"/>
                </a:cubicBezTo>
                <a:cubicBezTo>
                  <a:pt x="26353" y="852"/>
                  <a:pt x="26344" y="857"/>
                  <a:pt x="26335" y="862"/>
                </a:cubicBezTo>
                <a:cubicBezTo>
                  <a:pt x="26325" y="866"/>
                  <a:pt x="26315" y="869"/>
                  <a:pt x="26305" y="871"/>
                </a:cubicBezTo>
                <a:cubicBezTo>
                  <a:pt x="26295" y="873"/>
                  <a:pt x="26284" y="874"/>
                  <a:pt x="26274" y="874"/>
                </a:cubicBezTo>
                <a:lnTo>
                  <a:pt x="159" y="874"/>
                </a:lnTo>
                <a:cubicBezTo>
                  <a:pt x="148" y="874"/>
                  <a:pt x="138" y="873"/>
                  <a:pt x="128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7"/>
                  <a:pt x="79" y="852"/>
                  <a:pt x="70" y="846"/>
                </a:cubicBezTo>
                <a:cubicBezTo>
                  <a:pt x="62" y="840"/>
                  <a:pt x="54" y="834"/>
                  <a:pt x="46" y="826"/>
                </a:cubicBezTo>
                <a:cubicBezTo>
                  <a:pt x="39" y="819"/>
                  <a:pt x="32" y="811"/>
                  <a:pt x="27" y="802"/>
                </a:cubicBezTo>
                <a:cubicBezTo>
                  <a:pt x="21" y="794"/>
                  <a:pt x="16" y="785"/>
                  <a:pt x="12" y="775"/>
                </a:cubicBezTo>
                <a:cubicBezTo>
                  <a:pt x="8" y="765"/>
                  <a:pt x="5" y="755"/>
                  <a:pt x="3" y="745"/>
                </a:cubicBezTo>
                <a:cubicBezTo>
                  <a:pt x="1" y="735"/>
                  <a:pt x="0" y="725"/>
                  <a:pt x="0" y="71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fr-FR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609480" y="3395520"/>
            <a:ext cx="1519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950" b="0" u="none" strike="noStrike">
                <a:solidFill>
                  <a:srgbClr val="16211C"/>
                </a:solidFill>
                <a:effectLst/>
                <a:uFillTx/>
                <a:latin typeface="arial"/>
                <a:ea typeface="arial"/>
              </a:rPr>
              <a:t>démographie.</a:t>
            </a:r>
            <a:endParaRPr lang="fr-FR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693720" y="3971880"/>
            <a:ext cx="934020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660" b="0" u="none" strike="noStrike">
                <a:solidFill>
                  <a:srgbClr val="16211C"/>
                </a:solidFill>
                <a:effectLst/>
                <a:uFillTx/>
                <a:latin typeface="Courier New"/>
                <a:ea typeface="Courier New"/>
              </a:rPr>
              <a:t>git clone https://github.com/Rxdy/ML-DMA.git &amp;&amp; make installer &amp;&amp; make all</a:t>
            </a:r>
            <a:endParaRPr lang="fr-FR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609480" y="4424760"/>
            <a:ext cx="7802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37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Questions et discussion · ALVES Rudy · ANTHONY Josselin · BENASSIE Noé · TAVERNIER Florian</a:t>
            </a:r>
            <a:endParaRPr lang="fr-FR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285840" y="6480000"/>
            <a:ext cx="403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fr-FR" sz="1050" b="0" u="none" strike="noStrike">
                <a:solidFill>
                  <a:srgbClr val="566359"/>
                </a:solidFill>
                <a:effectLst/>
                <a:uFillTx/>
                <a:latin typeface="arial"/>
                <a:ea typeface="arial"/>
              </a:rPr>
              <a:t>ALVES · ANTHONY · BENASSIE · TAVERNIER — iRUP Alternance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